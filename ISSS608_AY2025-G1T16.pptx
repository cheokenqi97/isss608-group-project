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1" r:id="rId4"/>
  </p:sldMasterIdLst>
  <p:notesMasterIdLst>
    <p:notesMasterId r:id="rId7"/>
  </p:notesMasterIdLst>
  <p:sldIdLst>
    <p:sldId id="1175" r:id="rId5"/>
    <p:sldId id="1176" r:id="rId6"/>
  </p:sldIdLst>
  <p:sldSz cx="21388388"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2776" userDrawn="1">
          <p15:clr>
            <a:srgbClr val="A4A3A4"/>
          </p15:clr>
        </p15:guide>
        <p15:guide id="2" pos="67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B4FD"/>
    <a:srgbClr val="E3EAF6"/>
    <a:srgbClr val="235CBC"/>
    <a:srgbClr val="235CBB"/>
    <a:srgbClr val="52D0C7"/>
    <a:srgbClr val="008F00"/>
    <a:srgbClr val="FF40FF"/>
    <a:srgbClr val="31B3E8"/>
    <a:srgbClr val="2E8FAB"/>
    <a:srgbClr val="3FB5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64" autoAdjust="0"/>
    <p:restoredTop sz="94779"/>
  </p:normalViewPr>
  <p:slideViewPr>
    <p:cSldViewPr snapToGrid="0">
      <p:cViewPr>
        <p:scale>
          <a:sx n="33" d="100"/>
          <a:sy n="33" d="100"/>
        </p:scale>
        <p:origin x="1710" y="-459"/>
      </p:cViewPr>
      <p:guideLst>
        <p:guide orient="horz" pos="12776"/>
        <p:guide pos="673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EC1A36-2279-0B42-A036-2A7F66850110}" type="datetimeFigureOut">
              <a:rPr kumimoji="1" lang="zh-TW" altLang="en-US" smtClean="0"/>
              <a:t>2026/3/21</a:t>
            </a:fld>
            <a:endParaRPr kumimoji="1" lang="zh-TW" altLang="en-US"/>
          </a:p>
        </p:txBody>
      </p:sp>
      <p:sp>
        <p:nvSpPr>
          <p:cNvPr id="4" name="投影片影像版面配置區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FFCDE0-F5D5-B54D-83E1-08C9CC72E67F}" type="slidenum">
              <a:rPr kumimoji="1" lang="zh-TW" altLang="en-US" smtClean="0"/>
              <a:t>‹#›</a:t>
            </a:fld>
            <a:endParaRPr kumimoji="1" lang="zh-TW" altLang="en-US"/>
          </a:p>
        </p:txBody>
      </p:sp>
    </p:spTree>
    <p:extLst>
      <p:ext uri="{BB962C8B-B14F-4D97-AF65-F5344CB8AC3E}">
        <p14:creationId xmlns:p14="http://schemas.microsoft.com/office/powerpoint/2010/main" val="272890272"/>
      </p:ext>
    </p:extLst>
  </p:cSld>
  <p:clrMap bg1="lt1" tx1="dk1" bg2="lt2" tx2="dk2" accent1="accent1" accent2="accent2" accent3="accent3" accent4="accent4" accent5="accent5" accent6="accent6" hlink="hlink" folHlink="folHlink"/>
  <p:notesStyle>
    <a:lvl1pPr marL="0" algn="l" defTabSz="2479853" rtl="0" eaLnBrk="1" latinLnBrk="0" hangingPunct="1">
      <a:defRPr sz="3254" kern="1200">
        <a:solidFill>
          <a:schemeClr val="tx1"/>
        </a:solidFill>
        <a:latin typeface="+mn-lt"/>
        <a:ea typeface="+mn-ea"/>
        <a:cs typeface="+mn-cs"/>
      </a:defRPr>
    </a:lvl1pPr>
    <a:lvl2pPr marL="1239926" algn="l" defTabSz="2479853" rtl="0" eaLnBrk="1" latinLnBrk="0" hangingPunct="1">
      <a:defRPr sz="3254" kern="1200">
        <a:solidFill>
          <a:schemeClr val="tx1"/>
        </a:solidFill>
        <a:latin typeface="+mn-lt"/>
        <a:ea typeface="+mn-ea"/>
        <a:cs typeface="+mn-cs"/>
      </a:defRPr>
    </a:lvl2pPr>
    <a:lvl3pPr marL="2479853" algn="l" defTabSz="2479853" rtl="0" eaLnBrk="1" latinLnBrk="0" hangingPunct="1">
      <a:defRPr sz="3254" kern="1200">
        <a:solidFill>
          <a:schemeClr val="tx1"/>
        </a:solidFill>
        <a:latin typeface="+mn-lt"/>
        <a:ea typeface="+mn-ea"/>
        <a:cs typeface="+mn-cs"/>
      </a:defRPr>
    </a:lvl3pPr>
    <a:lvl4pPr marL="3719779" algn="l" defTabSz="2479853" rtl="0" eaLnBrk="1" latinLnBrk="0" hangingPunct="1">
      <a:defRPr sz="3254" kern="1200">
        <a:solidFill>
          <a:schemeClr val="tx1"/>
        </a:solidFill>
        <a:latin typeface="+mn-lt"/>
        <a:ea typeface="+mn-ea"/>
        <a:cs typeface="+mn-cs"/>
      </a:defRPr>
    </a:lvl4pPr>
    <a:lvl5pPr marL="4959706" algn="l" defTabSz="2479853" rtl="0" eaLnBrk="1" latinLnBrk="0" hangingPunct="1">
      <a:defRPr sz="3254" kern="1200">
        <a:solidFill>
          <a:schemeClr val="tx1"/>
        </a:solidFill>
        <a:latin typeface="+mn-lt"/>
        <a:ea typeface="+mn-ea"/>
        <a:cs typeface="+mn-cs"/>
      </a:defRPr>
    </a:lvl5pPr>
    <a:lvl6pPr marL="6199632" algn="l" defTabSz="2479853" rtl="0" eaLnBrk="1" latinLnBrk="0" hangingPunct="1">
      <a:defRPr sz="3254" kern="1200">
        <a:solidFill>
          <a:schemeClr val="tx1"/>
        </a:solidFill>
        <a:latin typeface="+mn-lt"/>
        <a:ea typeface="+mn-ea"/>
        <a:cs typeface="+mn-cs"/>
      </a:defRPr>
    </a:lvl6pPr>
    <a:lvl7pPr marL="7439558" algn="l" defTabSz="2479853" rtl="0" eaLnBrk="1" latinLnBrk="0" hangingPunct="1">
      <a:defRPr sz="3254" kern="1200">
        <a:solidFill>
          <a:schemeClr val="tx1"/>
        </a:solidFill>
        <a:latin typeface="+mn-lt"/>
        <a:ea typeface="+mn-ea"/>
        <a:cs typeface="+mn-cs"/>
      </a:defRPr>
    </a:lvl7pPr>
    <a:lvl8pPr marL="8679485" algn="l" defTabSz="2479853" rtl="0" eaLnBrk="1" latinLnBrk="0" hangingPunct="1">
      <a:defRPr sz="3254" kern="1200">
        <a:solidFill>
          <a:schemeClr val="tx1"/>
        </a:solidFill>
        <a:latin typeface="+mn-lt"/>
        <a:ea typeface="+mn-ea"/>
        <a:cs typeface="+mn-cs"/>
      </a:defRPr>
    </a:lvl8pPr>
    <a:lvl9pPr marL="9919411" algn="l" defTabSz="2479853" rtl="0" eaLnBrk="1" latinLnBrk="0" hangingPunct="1">
      <a:defRPr sz="3254"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Correlation analysis was used to assess the overall strength and direction of association between fertility and demographic indicators such as marriage and divorce. Regression analysis was then used to estimate the size of the relationship, showing how fertility changes with changes in the predictor. Lagged regression was further applied to test whether earlier marriage patterns are associated with fertility in subsequent years, since childbirth may occur some time after marriage.</a:t>
            </a:r>
          </a:p>
          <a:p>
            <a:endParaRPr lang="en-US" dirty="0"/>
          </a:p>
          <a:p>
            <a:r>
              <a:rPr lang="en-US" b="1" dirty="0"/>
              <a:t>Correlation</a:t>
            </a:r>
            <a:r>
              <a:rPr lang="en-US" dirty="0"/>
              <a:t> = are they related, and how strongly? </a:t>
            </a:r>
            <a:r>
              <a:rPr lang="en-US" b="1" dirty="0"/>
              <a:t>Regression</a:t>
            </a:r>
            <a:r>
              <a:rPr lang="en-US" dirty="0"/>
              <a:t> = how much does fertility change when marriage changes? </a:t>
            </a:r>
            <a:r>
              <a:rPr lang="en-US" b="1" dirty="0"/>
              <a:t>Lagged regression</a:t>
            </a:r>
            <a:r>
              <a:rPr lang="en-US" dirty="0"/>
              <a:t> = does earlier marriage relate to later fertility?</a:t>
            </a:r>
          </a:p>
          <a:p>
            <a:endParaRPr lang="en-SG" dirty="0"/>
          </a:p>
          <a:p>
            <a:endParaRPr lang="en-SG" dirty="0"/>
          </a:p>
          <a:p>
            <a:r>
              <a:rPr lang="en-US" dirty="0"/>
              <a:t>Marriage explains </a:t>
            </a:r>
            <a:r>
              <a:rPr lang="en-US" b="1" dirty="0"/>
              <a:t>77.1% of the variation in fertility</a:t>
            </a:r>
            <a:r>
              <a:rPr lang="en-US" dirty="0"/>
              <a:t> in the baseline model.</a:t>
            </a:r>
          </a:p>
          <a:p>
            <a:r>
              <a:rPr lang="en-US"/>
              <a:t>A </a:t>
            </a:r>
            <a:r>
              <a:rPr lang="en-US" dirty="0"/>
              <a:t>1-unit increase in the marriage variable is associated with a </a:t>
            </a:r>
            <a:r>
              <a:rPr lang="en-US" b="1" dirty="0"/>
              <a:t>0.177 increase in TFR</a:t>
            </a:r>
            <a:r>
              <a:rPr lang="en-US" dirty="0"/>
              <a:t>, based on Model 1.</a:t>
            </a:r>
            <a:endParaRPr lang="en-SG" dirty="0"/>
          </a:p>
        </p:txBody>
      </p:sp>
      <p:sp>
        <p:nvSpPr>
          <p:cNvPr id="4" name="Slide Number Placeholder 3"/>
          <p:cNvSpPr>
            <a:spLocks noGrp="1"/>
          </p:cNvSpPr>
          <p:nvPr>
            <p:ph type="sldNum" sz="quarter" idx="5"/>
          </p:nvPr>
        </p:nvSpPr>
        <p:spPr/>
        <p:txBody>
          <a:bodyPr/>
          <a:lstStyle/>
          <a:p>
            <a:fld id="{48FFCDE0-F5D5-B54D-83E1-08C9CC72E67F}" type="slidenum">
              <a:rPr kumimoji="1" lang="zh-TW" altLang="en-US" smtClean="0"/>
              <a:t>1</a:t>
            </a:fld>
            <a:endParaRPr kumimoji="1" lang="zh-TW" altLang="en-US"/>
          </a:p>
        </p:txBody>
      </p:sp>
    </p:spTree>
    <p:extLst>
      <p:ext uri="{BB962C8B-B14F-4D97-AF65-F5344CB8AC3E}">
        <p14:creationId xmlns:p14="http://schemas.microsoft.com/office/powerpoint/2010/main" val="2834380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FD088-A8E7-76C4-60F5-BB8BC7C92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581F2-6E2D-1576-7155-0741D9CB1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597723-1CD7-BAEA-11C3-368FC77F0F2E}"/>
              </a:ext>
            </a:extLst>
          </p:cNvPr>
          <p:cNvSpPr>
            <a:spLocks noGrp="1"/>
          </p:cNvSpPr>
          <p:nvPr>
            <p:ph type="body" idx="1"/>
          </p:nvPr>
        </p:nvSpPr>
        <p:spPr/>
        <p:txBody>
          <a:bodyPr/>
          <a:lstStyle/>
          <a:p>
            <a:r>
              <a:rPr lang="en-US" dirty="0"/>
              <a:t>This regression analysis uses age-group-by-year fertility data to examine whether fertility is associated with marriage and divorce indicators over time. Panel regression is used because the data vary across both age groups and years. Fixed-effects models help control for differences across age groups, while lagged models check whether these relationships appear with a time delay.</a:t>
            </a:r>
            <a:endParaRPr lang="en-SG" dirty="0"/>
          </a:p>
        </p:txBody>
      </p:sp>
      <p:sp>
        <p:nvSpPr>
          <p:cNvPr id="4" name="Slide Number Placeholder 3">
            <a:extLst>
              <a:ext uri="{FF2B5EF4-FFF2-40B4-BE49-F238E27FC236}">
                <a16:creationId xmlns:a16="http://schemas.microsoft.com/office/drawing/2014/main" id="{82FFD61B-D2E5-B262-0F32-3BE7F1BEC50A}"/>
              </a:ext>
            </a:extLst>
          </p:cNvPr>
          <p:cNvSpPr>
            <a:spLocks noGrp="1"/>
          </p:cNvSpPr>
          <p:nvPr>
            <p:ph type="sldNum" sz="quarter" idx="5"/>
          </p:nvPr>
        </p:nvSpPr>
        <p:spPr/>
        <p:txBody>
          <a:bodyPr/>
          <a:lstStyle/>
          <a:p>
            <a:fld id="{48FFCDE0-F5D5-B54D-83E1-08C9CC72E67F}" type="slidenum">
              <a:rPr kumimoji="1" lang="zh-TW" altLang="en-US" smtClean="0"/>
              <a:t>2</a:t>
            </a:fld>
            <a:endParaRPr kumimoji="1" lang="zh-TW" altLang="en-US"/>
          </a:p>
        </p:txBody>
      </p:sp>
    </p:spTree>
    <p:extLst>
      <p:ext uri="{BB962C8B-B14F-4D97-AF65-F5344CB8AC3E}">
        <p14:creationId xmlns:p14="http://schemas.microsoft.com/office/powerpoint/2010/main" val="42579682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4129" y="4954765"/>
            <a:ext cx="18180130" cy="10540259"/>
          </a:xfrm>
        </p:spPr>
        <p:txBody>
          <a:bodyPr anchor="b"/>
          <a:lstStyle>
            <a:lvl1pPr algn="ctr">
              <a:defRPr sz="14035"/>
            </a:lvl1pPr>
          </a:lstStyle>
          <a:p>
            <a:r>
              <a:rPr lang="en-US"/>
              <a:t>Click to edit Master title style</a:t>
            </a:r>
          </a:p>
        </p:txBody>
      </p:sp>
      <p:sp>
        <p:nvSpPr>
          <p:cNvPr id="3" name="Subtitle 2"/>
          <p:cNvSpPr>
            <a:spLocks noGrp="1"/>
          </p:cNvSpPr>
          <p:nvPr>
            <p:ph type="subTitle" idx="1"/>
          </p:nvPr>
        </p:nvSpPr>
        <p:spPr>
          <a:xfrm>
            <a:off x="2673549" y="15901497"/>
            <a:ext cx="16041291" cy="7309499"/>
          </a:xfrm>
        </p:spPr>
        <p:txBody>
          <a:bodyPr/>
          <a:lstStyle>
            <a:lvl1pPr marL="0" indent="0" algn="ctr">
              <a:buNone/>
              <a:defRPr sz="5614"/>
            </a:lvl1pPr>
            <a:lvl2pPr marL="1069437" indent="0" algn="ctr">
              <a:buNone/>
              <a:defRPr sz="4678"/>
            </a:lvl2pPr>
            <a:lvl3pPr marL="2138873" indent="0" algn="ctr">
              <a:buNone/>
              <a:defRPr sz="4210"/>
            </a:lvl3pPr>
            <a:lvl4pPr marL="3208310" indent="0" algn="ctr">
              <a:buNone/>
              <a:defRPr sz="3743"/>
            </a:lvl4pPr>
            <a:lvl5pPr marL="4277746" indent="0" algn="ctr">
              <a:buNone/>
              <a:defRPr sz="3743"/>
            </a:lvl5pPr>
            <a:lvl6pPr marL="5347183" indent="0" algn="ctr">
              <a:buNone/>
              <a:defRPr sz="3743"/>
            </a:lvl6pPr>
            <a:lvl7pPr marL="6416619" indent="0" algn="ctr">
              <a:buNone/>
              <a:defRPr sz="3743"/>
            </a:lvl7pPr>
            <a:lvl8pPr marL="7486056" indent="0" algn="ctr">
              <a:buNone/>
              <a:defRPr sz="3743"/>
            </a:lvl8pPr>
            <a:lvl9pPr marL="8555492" indent="0" algn="ctr">
              <a:buNone/>
              <a:defRPr sz="3743"/>
            </a:lvl9pPr>
          </a:lstStyle>
          <a:p>
            <a:r>
              <a:rPr lang="en-US"/>
              <a:t>Click to edit Master subtitle style</a:t>
            </a:r>
          </a:p>
        </p:txBody>
      </p:sp>
      <p:sp>
        <p:nvSpPr>
          <p:cNvPr id="4" name="Date Placeholder 3"/>
          <p:cNvSpPr>
            <a:spLocks noGrp="1"/>
          </p:cNvSpPr>
          <p:nvPr>
            <p:ph type="dt" sz="half" idx="10"/>
          </p:nvPr>
        </p:nvSpPr>
        <p:spPr/>
        <p:txBody>
          <a:bodyPr/>
          <a:lstStyle/>
          <a:p>
            <a:fld id="{F8A9931D-5C47-D347-BE90-B26453E539BE}" type="datetimeFigureOut">
              <a:rPr kumimoji="1" lang="zh-TW" altLang="en-US" smtClean="0"/>
              <a:t>2026/3/21</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62F1CBBC-053A-A240-92DB-658347C973C7}" type="slidenum">
              <a:rPr kumimoji="1" lang="zh-TW" altLang="en-US" smtClean="0"/>
              <a:t>‹#›</a:t>
            </a:fld>
            <a:endParaRPr kumimoji="1" lang="zh-TW" altLang="en-US"/>
          </a:p>
        </p:txBody>
      </p:sp>
    </p:spTree>
    <p:extLst>
      <p:ext uri="{BB962C8B-B14F-4D97-AF65-F5344CB8AC3E}">
        <p14:creationId xmlns:p14="http://schemas.microsoft.com/office/powerpoint/2010/main" val="3639388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A9931D-5C47-D347-BE90-B26453E539BE}" type="datetimeFigureOut">
              <a:rPr kumimoji="1" lang="zh-TW" altLang="en-US" smtClean="0"/>
              <a:t>2026/3/21</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62F1CBBC-053A-A240-92DB-658347C973C7}" type="slidenum">
              <a:rPr kumimoji="1" lang="zh-TW" altLang="en-US" smtClean="0"/>
              <a:t>‹#›</a:t>
            </a:fld>
            <a:endParaRPr kumimoji="1" lang="zh-TW" altLang="en-US"/>
          </a:p>
        </p:txBody>
      </p:sp>
    </p:spTree>
    <p:extLst>
      <p:ext uri="{BB962C8B-B14F-4D97-AF65-F5344CB8AC3E}">
        <p14:creationId xmlns:p14="http://schemas.microsoft.com/office/powerpoint/2010/main" val="34883119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9313" y="7547788"/>
            <a:ext cx="18447485" cy="12593645"/>
          </a:xfrm>
        </p:spPr>
        <p:txBody>
          <a:bodyPr anchor="b"/>
          <a:lstStyle>
            <a:lvl1pPr>
              <a:defRPr sz="14035"/>
            </a:lvl1pPr>
          </a:lstStyle>
          <a:p>
            <a:r>
              <a:rPr lang="en-US"/>
              <a:t>Click to edit Master title style</a:t>
            </a:r>
          </a:p>
        </p:txBody>
      </p:sp>
      <p:sp>
        <p:nvSpPr>
          <p:cNvPr id="3" name="Text Placeholder 2"/>
          <p:cNvSpPr>
            <a:spLocks noGrp="1"/>
          </p:cNvSpPr>
          <p:nvPr>
            <p:ph type="body" idx="1"/>
          </p:nvPr>
        </p:nvSpPr>
        <p:spPr>
          <a:xfrm>
            <a:off x="1459313" y="20260574"/>
            <a:ext cx="18447485" cy="6622701"/>
          </a:xfrm>
        </p:spPr>
        <p:txBody>
          <a:bodyPr/>
          <a:lstStyle>
            <a:lvl1pPr marL="0" indent="0">
              <a:buNone/>
              <a:defRPr sz="5614">
                <a:solidFill>
                  <a:schemeClr val="tx1"/>
                </a:solidFill>
              </a:defRPr>
            </a:lvl1pPr>
            <a:lvl2pPr marL="1069437" indent="0">
              <a:buNone/>
              <a:defRPr sz="4678">
                <a:solidFill>
                  <a:schemeClr val="tx1">
                    <a:tint val="75000"/>
                  </a:schemeClr>
                </a:solidFill>
              </a:defRPr>
            </a:lvl2pPr>
            <a:lvl3pPr marL="2138873" indent="0">
              <a:buNone/>
              <a:defRPr sz="4210">
                <a:solidFill>
                  <a:schemeClr val="tx1">
                    <a:tint val="75000"/>
                  </a:schemeClr>
                </a:solidFill>
              </a:defRPr>
            </a:lvl3pPr>
            <a:lvl4pPr marL="3208310" indent="0">
              <a:buNone/>
              <a:defRPr sz="3743">
                <a:solidFill>
                  <a:schemeClr val="tx1">
                    <a:tint val="75000"/>
                  </a:schemeClr>
                </a:solidFill>
              </a:defRPr>
            </a:lvl4pPr>
            <a:lvl5pPr marL="4277746" indent="0">
              <a:buNone/>
              <a:defRPr sz="3743">
                <a:solidFill>
                  <a:schemeClr val="tx1">
                    <a:tint val="75000"/>
                  </a:schemeClr>
                </a:solidFill>
              </a:defRPr>
            </a:lvl5pPr>
            <a:lvl6pPr marL="5347183" indent="0">
              <a:buNone/>
              <a:defRPr sz="3743">
                <a:solidFill>
                  <a:schemeClr val="tx1">
                    <a:tint val="75000"/>
                  </a:schemeClr>
                </a:solidFill>
              </a:defRPr>
            </a:lvl6pPr>
            <a:lvl7pPr marL="6416619" indent="0">
              <a:buNone/>
              <a:defRPr sz="3743">
                <a:solidFill>
                  <a:schemeClr val="tx1">
                    <a:tint val="75000"/>
                  </a:schemeClr>
                </a:solidFill>
              </a:defRPr>
            </a:lvl7pPr>
            <a:lvl8pPr marL="7486056" indent="0">
              <a:buNone/>
              <a:defRPr sz="3743">
                <a:solidFill>
                  <a:schemeClr val="tx1">
                    <a:tint val="75000"/>
                  </a:schemeClr>
                </a:solidFill>
              </a:defRPr>
            </a:lvl8pPr>
            <a:lvl9pPr marL="8555492" indent="0">
              <a:buNone/>
              <a:defRPr sz="374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A9931D-5C47-D347-BE90-B26453E539BE}" type="datetimeFigureOut">
              <a:rPr kumimoji="1" lang="zh-TW" altLang="en-US" smtClean="0"/>
              <a:t>2026/3/21</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62F1CBBC-053A-A240-92DB-658347C973C7}" type="slidenum">
              <a:rPr kumimoji="1" lang="zh-TW" altLang="en-US" smtClean="0"/>
              <a:t>‹#›</a:t>
            </a:fld>
            <a:endParaRPr kumimoji="1" lang="zh-TW" altLang="en-US"/>
          </a:p>
        </p:txBody>
      </p:sp>
    </p:spTree>
    <p:extLst>
      <p:ext uri="{BB962C8B-B14F-4D97-AF65-F5344CB8AC3E}">
        <p14:creationId xmlns:p14="http://schemas.microsoft.com/office/powerpoint/2010/main" val="17505086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470452" y="8059374"/>
            <a:ext cx="9090065"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827871" y="8059374"/>
            <a:ext cx="9090065" cy="192093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8A9931D-5C47-D347-BE90-B26453E539BE}" type="datetimeFigureOut">
              <a:rPr kumimoji="1" lang="zh-TW" altLang="en-US" smtClean="0"/>
              <a:t>2026/3/21</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62F1CBBC-053A-A240-92DB-658347C973C7}" type="slidenum">
              <a:rPr kumimoji="1" lang="zh-TW" altLang="en-US" smtClean="0"/>
              <a:t>‹#›</a:t>
            </a:fld>
            <a:endParaRPr kumimoji="1" lang="zh-TW" altLang="en-US"/>
          </a:p>
        </p:txBody>
      </p:sp>
    </p:spTree>
    <p:extLst>
      <p:ext uri="{BB962C8B-B14F-4D97-AF65-F5344CB8AC3E}">
        <p14:creationId xmlns:p14="http://schemas.microsoft.com/office/powerpoint/2010/main" val="2486730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73237" y="1611882"/>
            <a:ext cx="18447485" cy="5851808"/>
          </a:xfrm>
        </p:spPr>
        <p:txBody>
          <a:bodyPr/>
          <a:lstStyle/>
          <a:p>
            <a:r>
              <a:rPr lang="en-US"/>
              <a:t>Click to edit Master title style</a:t>
            </a:r>
          </a:p>
        </p:txBody>
      </p:sp>
      <p:sp>
        <p:nvSpPr>
          <p:cNvPr id="3" name="Text Placeholder 2"/>
          <p:cNvSpPr>
            <a:spLocks noGrp="1"/>
          </p:cNvSpPr>
          <p:nvPr>
            <p:ph type="body" idx="1"/>
          </p:nvPr>
        </p:nvSpPr>
        <p:spPr>
          <a:xfrm>
            <a:off x="1473240" y="7421634"/>
            <a:ext cx="9048289" cy="3637228"/>
          </a:xfrm>
        </p:spPr>
        <p:txBody>
          <a:bodyPr anchor="b"/>
          <a:lstStyle>
            <a:lvl1pPr marL="0" indent="0">
              <a:buNone/>
              <a:defRPr sz="5614" b="1"/>
            </a:lvl1pPr>
            <a:lvl2pPr marL="1069437" indent="0">
              <a:buNone/>
              <a:defRPr sz="4678" b="1"/>
            </a:lvl2pPr>
            <a:lvl3pPr marL="2138873" indent="0">
              <a:buNone/>
              <a:defRPr sz="4210" b="1"/>
            </a:lvl3pPr>
            <a:lvl4pPr marL="3208310" indent="0">
              <a:buNone/>
              <a:defRPr sz="3743" b="1"/>
            </a:lvl4pPr>
            <a:lvl5pPr marL="4277746" indent="0">
              <a:buNone/>
              <a:defRPr sz="3743" b="1"/>
            </a:lvl5pPr>
            <a:lvl6pPr marL="5347183" indent="0">
              <a:buNone/>
              <a:defRPr sz="3743" b="1"/>
            </a:lvl6pPr>
            <a:lvl7pPr marL="6416619" indent="0">
              <a:buNone/>
              <a:defRPr sz="3743" b="1"/>
            </a:lvl7pPr>
            <a:lvl8pPr marL="7486056" indent="0">
              <a:buNone/>
              <a:defRPr sz="3743" b="1"/>
            </a:lvl8pPr>
            <a:lvl9pPr marL="8555492" indent="0">
              <a:buNone/>
              <a:defRPr sz="3743" b="1"/>
            </a:lvl9pPr>
          </a:lstStyle>
          <a:p>
            <a:pPr lvl="0"/>
            <a:r>
              <a:rPr lang="en-US"/>
              <a:t>Click to edit Master text styles</a:t>
            </a:r>
          </a:p>
        </p:txBody>
      </p:sp>
      <p:sp>
        <p:nvSpPr>
          <p:cNvPr id="4" name="Content Placeholder 3"/>
          <p:cNvSpPr>
            <a:spLocks noGrp="1"/>
          </p:cNvSpPr>
          <p:nvPr>
            <p:ph sz="half" idx="2"/>
          </p:nvPr>
        </p:nvSpPr>
        <p:spPr>
          <a:xfrm>
            <a:off x="1473240" y="11058863"/>
            <a:ext cx="9048289"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0827872" y="7421634"/>
            <a:ext cx="9092851" cy="3637228"/>
          </a:xfrm>
        </p:spPr>
        <p:txBody>
          <a:bodyPr anchor="b"/>
          <a:lstStyle>
            <a:lvl1pPr marL="0" indent="0">
              <a:buNone/>
              <a:defRPr sz="5614" b="1"/>
            </a:lvl1pPr>
            <a:lvl2pPr marL="1069437" indent="0">
              <a:buNone/>
              <a:defRPr sz="4678" b="1"/>
            </a:lvl2pPr>
            <a:lvl3pPr marL="2138873" indent="0">
              <a:buNone/>
              <a:defRPr sz="4210" b="1"/>
            </a:lvl3pPr>
            <a:lvl4pPr marL="3208310" indent="0">
              <a:buNone/>
              <a:defRPr sz="3743" b="1"/>
            </a:lvl4pPr>
            <a:lvl5pPr marL="4277746" indent="0">
              <a:buNone/>
              <a:defRPr sz="3743" b="1"/>
            </a:lvl5pPr>
            <a:lvl6pPr marL="5347183" indent="0">
              <a:buNone/>
              <a:defRPr sz="3743" b="1"/>
            </a:lvl6pPr>
            <a:lvl7pPr marL="6416619" indent="0">
              <a:buNone/>
              <a:defRPr sz="3743" b="1"/>
            </a:lvl7pPr>
            <a:lvl8pPr marL="7486056" indent="0">
              <a:buNone/>
              <a:defRPr sz="3743" b="1"/>
            </a:lvl8pPr>
            <a:lvl9pPr marL="8555492" indent="0">
              <a:buNone/>
              <a:defRPr sz="3743" b="1"/>
            </a:lvl9pPr>
          </a:lstStyle>
          <a:p>
            <a:pPr lvl="0"/>
            <a:r>
              <a:rPr lang="en-US"/>
              <a:t>Click to edit Master text styles</a:t>
            </a:r>
          </a:p>
        </p:txBody>
      </p:sp>
      <p:sp>
        <p:nvSpPr>
          <p:cNvPr id="6" name="Content Placeholder 5"/>
          <p:cNvSpPr>
            <a:spLocks noGrp="1"/>
          </p:cNvSpPr>
          <p:nvPr>
            <p:ph sz="quarter" idx="4"/>
          </p:nvPr>
        </p:nvSpPr>
        <p:spPr>
          <a:xfrm>
            <a:off x="10827872" y="11058863"/>
            <a:ext cx="9092851" cy="162659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8A9931D-5C47-D347-BE90-B26453E539BE}" type="datetimeFigureOut">
              <a:rPr kumimoji="1" lang="zh-TW" altLang="en-US" smtClean="0"/>
              <a:t>2026/3/21</a:t>
            </a:fld>
            <a:endParaRPr kumimoji="1" lang="zh-TW" altLang="en-US"/>
          </a:p>
        </p:txBody>
      </p:sp>
      <p:sp>
        <p:nvSpPr>
          <p:cNvPr id="8" name="Footer Placeholder 7"/>
          <p:cNvSpPr>
            <a:spLocks noGrp="1"/>
          </p:cNvSpPr>
          <p:nvPr>
            <p:ph type="ftr" sz="quarter" idx="11"/>
          </p:nvPr>
        </p:nvSpPr>
        <p:spPr/>
        <p:txBody>
          <a:bodyPr/>
          <a:lstStyle/>
          <a:p>
            <a:endParaRPr kumimoji="1" lang="zh-TW" altLang="en-US"/>
          </a:p>
        </p:txBody>
      </p:sp>
      <p:sp>
        <p:nvSpPr>
          <p:cNvPr id="9" name="Slide Number Placeholder 8"/>
          <p:cNvSpPr>
            <a:spLocks noGrp="1"/>
          </p:cNvSpPr>
          <p:nvPr>
            <p:ph type="sldNum" sz="quarter" idx="12"/>
          </p:nvPr>
        </p:nvSpPr>
        <p:spPr/>
        <p:txBody>
          <a:bodyPr/>
          <a:lstStyle/>
          <a:p>
            <a:fld id="{62F1CBBC-053A-A240-92DB-658347C973C7}" type="slidenum">
              <a:rPr kumimoji="1" lang="zh-TW" altLang="en-US" smtClean="0"/>
              <a:t>‹#›</a:t>
            </a:fld>
            <a:endParaRPr kumimoji="1" lang="zh-TW" altLang="en-US"/>
          </a:p>
        </p:txBody>
      </p:sp>
    </p:spTree>
    <p:extLst>
      <p:ext uri="{BB962C8B-B14F-4D97-AF65-F5344CB8AC3E}">
        <p14:creationId xmlns:p14="http://schemas.microsoft.com/office/powerpoint/2010/main" val="29726667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8A9931D-5C47-D347-BE90-B26453E539BE}" type="datetimeFigureOut">
              <a:rPr kumimoji="1" lang="zh-TW" altLang="en-US" smtClean="0"/>
              <a:t>2026/3/21</a:t>
            </a:fld>
            <a:endParaRPr kumimoji="1" lang="zh-TW" altLang="en-US"/>
          </a:p>
        </p:txBody>
      </p:sp>
      <p:sp>
        <p:nvSpPr>
          <p:cNvPr id="4" name="Footer Placeholder 3"/>
          <p:cNvSpPr>
            <a:spLocks noGrp="1"/>
          </p:cNvSpPr>
          <p:nvPr>
            <p:ph type="ftr" sz="quarter" idx="11"/>
          </p:nvPr>
        </p:nvSpPr>
        <p:spPr/>
        <p:txBody>
          <a:bodyPr/>
          <a:lstStyle/>
          <a:p>
            <a:endParaRPr kumimoji="1" lang="zh-TW" altLang="en-US"/>
          </a:p>
        </p:txBody>
      </p:sp>
      <p:sp>
        <p:nvSpPr>
          <p:cNvPr id="5" name="Slide Number Placeholder 4"/>
          <p:cNvSpPr>
            <a:spLocks noGrp="1"/>
          </p:cNvSpPr>
          <p:nvPr>
            <p:ph type="sldNum" sz="quarter" idx="12"/>
          </p:nvPr>
        </p:nvSpPr>
        <p:spPr/>
        <p:txBody>
          <a:bodyPr/>
          <a:lstStyle/>
          <a:p>
            <a:fld id="{62F1CBBC-053A-A240-92DB-658347C973C7}" type="slidenum">
              <a:rPr kumimoji="1" lang="zh-TW" altLang="en-US" smtClean="0"/>
              <a:t>‹#›</a:t>
            </a:fld>
            <a:endParaRPr kumimoji="1" lang="zh-TW" altLang="en-US"/>
          </a:p>
        </p:txBody>
      </p:sp>
    </p:spTree>
    <p:extLst>
      <p:ext uri="{BB962C8B-B14F-4D97-AF65-F5344CB8AC3E}">
        <p14:creationId xmlns:p14="http://schemas.microsoft.com/office/powerpoint/2010/main" val="1971015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A9931D-5C47-D347-BE90-B26453E539BE}" type="datetimeFigureOut">
              <a:rPr kumimoji="1" lang="zh-TW" altLang="en-US" smtClean="0"/>
              <a:t>2026/3/21</a:t>
            </a:fld>
            <a:endParaRPr kumimoji="1" lang="zh-TW" altLang="en-US"/>
          </a:p>
        </p:txBody>
      </p:sp>
      <p:sp>
        <p:nvSpPr>
          <p:cNvPr id="3" name="Footer Placeholder 2"/>
          <p:cNvSpPr>
            <a:spLocks noGrp="1"/>
          </p:cNvSpPr>
          <p:nvPr>
            <p:ph type="ftr" sz="quarter" idx="11"/>
          </p:nvPr>
        </p:nvSpPr>
        <p:spPr/>
        <p:txBody>
          <a:bodyPr/>
          <a:lstStyle/>
          <a:p>
            <a:endParaRPr kumimoji="1" lang="zh-TW" altLang="en-US"/>
          </a:p>
        </p:txBody>
      </p:sp>
      <p:sp>
        <p:nvSpPr>
          <p:cNvPr id="4" name="Slide Number Placeholder 3"/>
          <p:cNvSpPr>
            <a:spLocks noGrp="1"/>
          </p:cNvSpPr>
          <p:nvPr>
            <p:ph type="sldNum" sz="quarter" idx="12"/>
          </p:nvPr>
        </p:nvSpPr>
        <p:spPr/>
        <p:txBody>
          <a:bodyPr/>
          <a:lstStyle/>
          <a:p>
            <a:fld id="{62F1CBBC-053A-A240-92DB-658347C973C7}" type="slidenum">
              <a:rPr kumimoji="1" lang="zh-TW" altLang="en-US" smtClean="0"/>
              <a:t>‹#›</a:t>
            </a:fld>
            <a:endParaRPr kumimoji="1" lang="zh-TW" altLang="en-US"/>
          </a:p>
        </p:txBody>
      </p:sp>
    </p:spTree>
    <p:extLst>
      <p:ext uri="{BB962C8B-B14F-4D97-AF65-F5344CB8AC3E}">
        <p14:creationId xmlns:p14="http://schemas.microsoft.com/office/powerpoint/2010/main" val="1721533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237" y="2018348"/>
            <a:ext cx="6898312" cy="7064216"/>
          </a:xfrm>
        </p:spPr>
        <p:txBody>
          <a:bodyPr anchor="b"/>
          <a:lstStyle>
            <a:lvl1pPr>
              <a:defRPr sz="7485"/>
            </a:lvl1pPr>
          </a:lstStyle>
          <a:p>
            <a:r>
              <a:rPr lang="en-US"/>
              <a:t>Click to edit Master title style</a:t>
            </a:r>
          </a:p>
        </p:txBody>
      </p:sp>
      <p:sp>
        <p:nvSpPr>
          <p:cNvPr id="3" name="Content Placeholder 2"/>
          <p:cNvSpPr>
            <a:spLocks noGrp="1"/>
          </p:cNvSpPr>
          <p:nvPr>
            <p:ph idx="1"/>
          </p:nvPr>
        </p:nvSpPr>
        <p:spPr>
          <a:xfrm>
            <a:off x="9092851" y="4359077"/>
            <a:ext cx="10827871" cy="21515024"/>
          </a:xfrm>
        </p:spPr>
        <p:txBody>
          <a:bodyPr/>
          <a:lstStyle>
            <a:lvl1pPr>
              <a:defRPr sz="7485"/>
            </a:lvl1pPr>
            <a:lvl2pPr>
              <a:defRPr sz="6549"/>
            </a:lvl2pPr>
            <a:lvl3pPr>
              <a:defRPr sz="5614"/>
            </a:lvl3pPr>
            <a:lvl4pPr>
              <a:defRPr sz="4678"/>
            </a:lvl4pPr>
            <a:lvl5pPr>
              <a:defRPr sz="4678"/>
            </a:lvl5pPr>
            <a:lvl6pPr>
              <a:defRPr sz="4678"/>
            </a:lvl6pPr>
            <a:lvl7pPr>
              <a:defRPr sz="4678"/>
            </a:lvl7pPr>
            <a:lvl8pPr>
              <a:defRPr sz="4678"/>
            </a:lvl8pPr>
            <a:lvl9pPr>
              <a:defRPr sz="467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473237" y="9082564"/>
            <a:ext cx="6898312" cy="16826573"/>
          </a:xfrm>
        </p:spPr>
        <p:txBody>
          <a:bodyPr/>
          <a:lstStyle>
            <a:lvl1pPr marL="0" indent="0">
              <a:buNone/>
              <a:defRPr sz="3743"/>
            </a:lvl1pPr>
            <a:lvl2pPr marL="1069437" indent="0">
              <a:buNone/>
              <a:defRPr sz="3275"/>
            </a:lvl2pPr>
            <a:lvl3pPr marL="2138873" indent="0">
              <a:buNone/>
              <a:defRPr sz="2807"/>
            </a:lvl3pPr>
            <a:lvl4pPr marL="3208310" indent="0">
              <a:buNone/>
              <a:defRPr sz="2339"/>
            </a:lvl4pPr>
            <a:lvl5pPr marL="4277746" indent="0">
              <a:buNone/>
              <a:defRPr sz="2339"/>
            </a:lvl5pPr>
            <a:lvl6pPr marL="5347183" indent="0">
              <a:buNone/>
              <a:defRPr sz="2339"/>
            </a:lvl6pPr>
            <a:lvl7pPr marL="6416619" indent="0">
              <a:buNone/>
              <a:defRPr sz="2339"/>
            </a:lvl7pPr>
            <a:lvl8pPr marL="7486056" indent="0">
              <a:buNone/>
              <a:defRPr sz="2339"/>
            </a:lvl8pPr>
            <a:lvl9pPr marL="8555492"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F8A9931D-5C47-D347-BE90-B26453E539BE}" type="datetimeFigureOut">
              <a:rPr kumimoji="1" lang="zh-TW" altLang="en-US" smtClean="0"/>
              <a:t>2026/3/21</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62F1CBBC-053A-A240-92DB-658347C973C7}" type="slidenum">
              <a:rPr kumimoji="1" lang="zh-TW" altLang="en-US" smtClean="0"/>
              <a:t>‹#›</a:t>
            </a:fld>
            <a:endParaRPr kumimoji="1" lang="zh-TW" altLang="en-US"/>
          </a:p>
        </p:txBody>
      </p:sp>
    </p:spTree>
    <p:extLst>
      <p:ext uri="{BB962C8B-B14F-4D97-AF65-F5344CB8AC3E}">
        <p14:creationId xmlns:p14="http://schemas.microsoft.com/office/powerpoint/2010/main" val="17337203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73237" y="2018348"/>
            <a:ext cx="6898312" cy="7064216"/>
          </a:xfrm>
        </p:spPr>
        <p:txBody>
          <a:bodyPr anchor="b"/>
          <a:lstStyle>
            <a:lvl1pPr>
              <a:defRPr sz="7485"/>
            </a:lvl1pPr>
          </a:lstStyle>
          <a:p>
            <a:r>
              <a:rPr lang="en-US"/>
              <a:t>Click to edit Master title style</a:t>
            </a:r>
          </a:p>
        </p:txBody>
      </p:sp>
      <p:sp>
        <p:nvSpPr>
          <p:cNvPr id="3" name="Picture Placeholder 2"/>
          <p:cNvSpPr>
            <a:spLocks noGrp="1" noChangeAspect="1"/>
          </p:cNvSpPr>
          <p:nvPr>
            <p:ph type="pic" idx="1"/>
          </p:nvPr>
        </p:nvSpPr>
        <p:spPr>
          <a:xfrm>
            <a:off x="9092851" y="4359077"/>
            <a:ext cx="10827871" cy="21515024"/>
          </a:xfrm>
        </p:spPr>
        <p:txBody>
          <a:bodyPr anchor="t"/>
          <a:lstStyle>
            <a:lvl1pPr marL="0" indent="0">
              <a:buNone/>
              <a:defRPr sz="7485"/>
            </a:lvl1pPr>
            <a:lvl2pPr marL="1069437" indent="0">
              <a:buNone/>
              <a:defRPr sz="6549"/>
            </a:lvl2pPr>
            <a:lvl3pPr marL="2138873" indent="0">
              <a:buNone/>
              <a:defRPr sz="5614"/>
            </a:lvl3pPr>
            <a:lvl4pPr marL="3208310" indent="0">
              <a:buNone/>
              <a:defRPr sz="4678"/>
            </a:lvl4pPr>
            <a:lvl5pPr marL="4277746" indent="0">
              <a:buNone/>
              <a:defRPr sz="4678"/>
            </a:lvl5pPr>
            <a:lvl6pPr marL="5347183" indent="0">
              <a:buNone/>
              <a:defRPr sz="4678"/>
            </a:lvl6pPr>
            <a:lvl7pPr marL="6416619" indent="0">
              <a:buNone/>
              <a:defRPr sz="4678"/>
            </a:lvl7pPr>
            <a:lvl8pPr marL="7486056" indent="0">
              <a:buNone/>
              <a:defRPr sz="4678"/>
            </a:lvl8pPr>
            <a:lvl9pPr marL="8555492" indent="0">
              <a:buNone/>
              <a:defRPr sz="4678"/>
            </a:lvl9pPr>
          </a:lstStyle>
          <a:p>
            <a:r>
              <a:rPr lang="en-US"/>
              <a:t>Click icon to add picture</a:t>
            </a:r>
          </a:p>
        </p:txBody>
      </p:sp>
      <p:sp>
        <p:nvSpPr>
          <p:cNvPr id="4" name="Text Placeholder 3"/>
          <p:cNvSpPr>
            <a:spLocks noGrp="1"/>
          </p:cNvSpPr>
          <p:nvPr>
            <p:ph type="body" sz="half" idx="2"/>
          </p:nvPr>
        </p:nvSpPr>
        <p:spPr>
          <a:xfrm>
            <a:off x="1473237" y="9082564"/>
            <a:ext cx="6898312" cy="16826573"/>
          </a:xfrm>
        </p:spPr>
        <p:txBody>
          <a:bodyPr/>
          <a:lstStyle>
            <a:lvl1pPr marL="0" indent="0">
              <a:buNone/>
              <a:defRPr sz="3743"/>
            </a:lvl1pPr>
            <a:lvl2pPr marL="1069437" indent="0">
              <a:buNone/>
              <a:defRPr sz="3275"/>
            </a:lvl2pPr>
            <a:lvl3pPr marL="2138873" indent="0">
              <a:buNone/>
              <a:defRPr sz="2807"/>
            </a:lvl3pPr>
            <a:lvl4pPr marL="3208310" indent="0">
              <a:buNone/>
              <a:defRPr sz="2339"/>
            </a:lvl4pPr>
            <a:lvl5pPr marL="4277746" indent="0">
              <a:buNone/>
              <a:defRPr sz="2339"/>
            </a:lvl5pPr>
            <a:lvl6pPr marL="5347183" indent="0">
              <a:buNone/>
              <a:defRPr sz="2339"/>
            </a:lvl6pPr>
            <a:lvl7pPr marL="6416619" indent="0">
              <a:buNone/>
              <a:defRPr sz="2339"/>
            </a:lvl7pPr>
            <a:lvl8pPr marL="7486056" indent="0">
              <a:buNone/>
              <a:defRPr sz="2339"/>
            </a:lvl8pPr>
            <a:lvl9pPr marL="8555492" indent="0">
              <a:buNone/>
              <a:defRPr sz="2339"/>
            </a:lvl9pPr>
          </a:lstStyle>
          <a:p>
            <a:pPr lvl="0"/>
            <a:r>
              <a:rPr lang="en-US"/>
              <a:t>Click to edit Master text styles</a:t>
            </a:r>
          </a:p>
        </p:txBody>
      </p:sp>
      <p:sp>
        <p:nvSpPr>
          <p:cNvPr id="5" name="Date Placeholder 4"/>
          <p:cNvSpPr>
            <a:spLocks noGrp="1"/>
          </p:cNvSpPr>
          <p:nvPr>
            <p:ph type="dt" sz="half" idx="10"/>
          </p:nvPr>
        </p:nvSpPr>
        <p:spPr/>
        <p:txBody>
          <a:bodyPr/>
          <a:lstStyle/>
          <a:p>
            <a:fld id="{F8A9931D-5C47-D347-BE90-B26453E539BE}" type="datetimeFigureOut">
              <a:rPr kumimoji="1" lang="zh-TW" altLang="en-US" smtClean="0"/>
              <a:t>2026/3/21</a:t>
            </a:fld>
            <a:endParaRPr kumimoji="1" lang="zh-TW" altLang="en-US"/>
          </a:p>
        </p:txBody>
      </p:sp>
      <p:sp>
        <p:nvSpPr>
          <p:cNvPr id="6" name="Footer Placeholder 5"/>
          <p:cNvSpPr>
            <a:spLocks noGrp="1"/>
          </p:cNvSpPr>
          <p:nvPr>
            <p:ph type="ftr" sz="quarter" idx="11"/>
          </p:nvPr>
        </p:nvSpPr>
        <p:spPr/>
        <p:txBody>
          <a:bodyPr/>
          <a:lstStyle/>
          <a:p>
            <a:endParaRPr kumimoji="1" lang="zh-TW" altLang="en-US"/>
          </a:p>
        </p:txBody>
      </p:sp>
      <p:sp>
        <p:nvSpPr>
          <p:cNvPr id="7" name="Slide Number Placeholder 6"/>
          <p:cNvSpPr>
            <a:spLocks noGrp="1"/>
          </p:cNvSpPr>
          <p:nvPr>
            <p:ph type="sldNum" sz="quarter" idx="12"/>
          </p:nvPr>
        </p:nvSpPr>
        <p:spPr/>
        <p:txBody>
          <a:bodyPr/>
          <a:lstStyle/>
          <a:p>
            <a:fld id="{62F1CBBC-053A-A240-92DB-658347C973C7}" type="slidenum">
              <a:rPr kumimoji="1" lang="zh-TW" altLang="en-US" smtClean="0"/>
              <a:t>‹#›</a:t>
            </a:fld>
            <a:endParaRPr kumimoji="1" lang="zh-TW" altLang="en-US"/>
          </a:p>
        </p:txBody>
      </p:sp>
    </p:spTree>
    <p:extLst>
      <p:ext uri="{BB962C8B-B14F-4D97-AF65-F5344CB8AC3E}">
        <p14:creationId xmlns:p14="http://schemas.microsoft.com/office/powerpoint/2010/main" val="17329959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A9931D-5C47-D347-BE90-B26453E539BE}" type="datetimeFigureOut">
              <a:rPr kumimoji="1" lang="zh-TW" altLang="en-US" smtClean="0"/>
              <a:t>2026/3/21</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62F1CBBC-053A-A240-92DB-658347C973C7}" type="slidenum">
              <a:rPr kumimoji="1" lang="zh-TW" altLang="en-US" smtClean="0"/>
              <a:t>‹#›</a:t>
            </a:fld>
            <a:endParaRPr kumimoji="1" lang="zh-TW" altLang="en-US"/>
          </a:p>
        </p:txBody>
      </p:sp>
    </p:spTree>
    <p:extLst>
      <p:ext uri="{BB962C8B-B14F-4D97-AF65-F5344CB8AC3E}">
        <p14:creationId xmlns:p14="http://schemas.microsoft.com/office/powerpoint/2010/main" val="222152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306066" y="1611875"/>
            <a:ext cx="4611871" cy="256568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470453" y="1611875"/>
            <a:ext cx="13568259" cy="256568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8A9931D-5C47-D347-BE90-B26453E539BE}" type="datetimeFigureOut">
              <a:rPr kumimoji="1" lang="zh-TW" altLang="en-US" smtClean="0"/>
              <a:t>2026/3/21</a:t>
            </a:fld>
            <a:endParaRPr kumimoji="1" lang="zh-TW" altLang="en-US"/>
          </a:p>
        </p:txBody>
      </p:sp>
      <p:sp>
        <p:nvSpPr>
          <p:cNvPr id="5" name="Footer Placeholder 4"/>
          <p:cNvSpPr>
            <a:spLocks noGrp="1"/>
          </p:cNvSpPr>
          <p:nvPr>
            <p:ph type="ftr" sz="quarter" idx="11"/>
          </p:nvPr>
        </p:nvSpPr>
        <p:spPr/>
        <p:txBody>
          <a:bodyPr/>
          <a:lstStyle/>
          <a:p>
            <a:endParaRPr kumimoji="1" lang="zh-TW" altLang="en-US"/>
          </a:p>
        </p:txBody>
      </p:sp>
      <p:sp>
        <p:nvSpPr>
          <p:cNvPr id="6" name="Slide Number Placeholder 5"/>
          <p:cNvSpPr>
            <a:spLocks noGrp="1"/>
          </p:cNvSpPr>
          <p:nvPr>
            <p:ph type="sldNum" sz="quarter" idx="12"/>
          </p:nvPr>
        </p:nvSpPr>
        <p:spPr/>
        <p:txBody>
          <a:bodyPr/>
          <a:lstStyle/>
          <a:p>
            <a:fld id="{62F1CBBC-053A-A240-92DB-658347C973C7}" type="slidenum">
              <a:rPr kumimoji="1" lang="zh-TW" altLang="en-US" smtClean="0"/>
              <a:t>‹#›</a:t>
            </a:fld>
            <a:endParaRPr kumimoji="1" lang="zh-TW" altLang="en-US"/>
          </a:p>
        </p:txBody>
      </p:sp>
    </p:spTree>
    <p:extLst>
      <p:ext uri="{BB962C8B-B14F-4D97-AF65-F5344CB8AC3E}">
        <p14:creationId xmlns:p14="http://schemas.microsoft.com/office/powerpoint/2010/main" val="9521746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Infographic_P00003">
    <p:spTree>
      <p:nvGrpSpPr>
        <p:cNvPr id="1" name=""/>
        <p:cNvGrpSpPr/>
        <p:nvPr/>
      </p:nvGrpSpPr>
      <p:grpSpPr>
        <a:xfrm>
          <a:off x="0" y="0"/>
          <a:ext cx="0" cy="0"/>
          <a:chOff x="0" y="0"/>
          <a:chExt cx="0" cy="0"/>
        </a:xfrm>
      </p:grpSpPr>
      <p:sp>
        <p:nvSpPr>
          <p:cNvPr id="25" name="Text Placeholder 3"/>
          <p:cNvSpPr>
            <a:spLocks noGrp="1"/>
          </p:cNvSpPr>
          <p:nvPr>
            <p:ph type="body" sz="half" idx="2" hasCustomPrompt="1"/>
          </p:nvPr>
        </p:nvSpPr>
        <p:spPr>
          <a:xfrm>
            <a:off x="891185" y="3978173"/>
            <a:ext cx="19574124" cy="1019800"/>
          </a:xfrm>
          <a:prstGeom prst="rect">
            <a:avLst/>
          </a:prstGeom>
        </p:spPr>
        <p:txBody>
          <a:bodyPr wrap="none" lIns="0" tIns="0" rIns="0" bIns="0" anchor="ctr">
            <a:noAutofit/>
          </a:bodyPr>
          <a:lstStyle>
            <a:lvl1pPr marL="0" indent="0" algn="ctr">
              <a:buNone/>
              <a:defRPr sz="2807" b="0" baseline="0">
                <a:solidFill>
                  <a:schemeClr val="bg1">
                    <a:lumMod val="65000"/>
                  </a:schemeClr>
                </a:solidFill>
                <a:latin typeface="+mn-lt"/>
                <a:ea typeface="Roboto" panose="02000000000000000000" pitchFamily="2" charset="0"/>
              </a:defRPr>
            </a:lvl1pPr>
            <a:lvl2pPr marL="1069369" indent="0">
              <a:buNone/>
              <a:defRPr sz="2807"/>
            </a:lvl2pPr>
            <a:lvl3pPr marL="2138736" indent="0">
              <a:buNone/>
              <a:defRPr sz="2338"/>
            </a:lvl3pPr>
            <a:lvl4pPr marL="3208104" indent="0">
              <a:buNone/>
              <a:defRPr sz="2105"/>
            </a:lvl4pPr>
            <a:lvl5pPr marL="4277471" indent="0">
              <a:buNone/>
              <a:defRPr sz="2105"/>
            </a:lvl5pPr>
            <a:lvl6pPr marL="5346840" indent="0">
              <a:buNone/>
              <a:defRPr sz="2105"/>
            </a:lvl6pPr>
            <a:lvl7pPr marL="6416207" indent="0">
              <a:buNone/>
              <a:defRPr sz="2105"/>
            </a:lvl7pPr>
            <a:lvl8pPr marL="7485575" indent="0">
              <a:buNone/>
              <a:defRPr sz="2105"/>
            </a:lvl8pPr>
            <a:lvl9pPr marL="8554944" indent="0">
              <a:buNone/>
              <a:defRPr sz="2105"/>
            </a:lvl9pPr>
          </a:lstStyle>
          <a:p>
            <a:pPr lvl="0"/>
            <a:r>
              <a:rPr lang="en-US"/>
              <a:t>CLICK TO EDITE SUBTITLE</a:t>
            </a:r>
          </a:p>
        </p:txBody>
      </p:sp>
      <p:sp>
        <p:nvSpPr>
          <p:cNvPr id="26" name="Title 2"/>
          <p:cNvSpPr>
            <a:spLocks noGrp="1"/>
          </p:cNvSpPr>
          <p:nvPr>
            <p:ph type="title"/>
          </p:nvPr>
        </p:nvSpPr>
        <p:spPr>
          <a:xfrm>
            <a:off x="891185" y="784920"/>
            <a:ext cx="19574124" cy="2915881"/>
          </a:xfrm>
          <a:prstGeom prst="rect">
            <a:avLst/>
          </a:prstGeom>
        </p:spPr>
        <p:txBody>
          <a:bodyPr lIns="0" tIns="0" rIns="0" bIns="0" anchor="ctr"/>
          <a:lstStyle>
            <a:lvl1pPr algn="ctr">
              <a:defRPr sz="6549">
                <a:solidFill>
                  <a:schemeClr val="tx1">
                    <a:lumMod val="50000"/>
                    <a:lumOff val="50000"/>
                  </a:schemeClr>
                </a:solidFill>
              </a:defRPr>
            </a:lvl1pPr>
          </a:lstStyle>
          <a:p>
            <a:r>
              <a:rPr lang="en-US"/>
              <a:t>Click to edit Master title style</a:t>
            </a:r>
          </a:p>
        </p:txBody>
      </p:sp>
    </p:spTree>
    <p:extLst>
      <p:ext uri="{BB962C8B-B14F-4D97-AF65-F5344CB8AC3E}">
        <p14:creationId xmlns:p14="http://schemas.microsoft.com/office/powerpoint/2010/main" val="1498475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70452" y="1611882"/>
            <a:ext cx="18447485" cy="585180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1470452" y="8059374"/>
            <a:ext cx="18447485" cy="192093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470452" y="28060644"/>
            <a:ext cx="4812387" cy="1611875"/>
          </a:xfrm>
          <a:prstGeom prst="rect">
            <a:avLst/>
          </a:prstGeom>
        </p:spPr>
        <p:txBody>
          <a:bodyPr vert="horz" lIns="91440" tIns="45720" rIns="91440" bIns="45720" rtlCol="0" anchor="ctr"/>
          <a:lstStyle>
            <a:lvl1pPr algn="l">
              <a:defRPr sz="2807">
                <a:solidFill>
                  <a:schemeClr val="tx1">
                    <a:tint val="75000"/>
                  </a:schemeClr>
                </a:solidFill>
              </a:defRPr>
            </a:lvl1pPr>
          </a:lstStyle>
          <a:p>
            <a:fld id="{F8A9931D-5C47-D347-BE90-B26453E539BE}" type="datetimeFigureOut">
              <a:rPr kumimoji="1" lang="zh-TW" altLang="en-US" smtClean="0"/>
              <a:t>2026/3/21</a:t>
            </a:fld>
            <a:endParaRPr kumimoji="1" lang="zh-TW" altLang="en-US"/>
          </a:p>
        </p:txBody>
      </p:sp>
      <p:sp>
        <p:nvSpPr>
          <p:cNvPr id="5" name="Footer Placeholder 4"/>
          <p:cNvSpPr>
            <a:spLocks noGrp="1"/>
          </p:cNvSpPr>
          <p:nvPr>
            <p:ph type="ftr" sz="quarter" idx="3"/>
          </p:nvPr>
        </p:nvSpPr>
        <p:spPr>
          <a:xfrm>
            <a:off x="7084904" y="28060644"/>
            <a:ext cx="7218581" cy="1611875"/>
          </a:xfrm>
          <a:prstGeom prst="rect">
            <a:avLst/>
          </a:prstGeom>
        </p:spPr>
        <p:txBody>
          <a:bodyPr vert="horz" lIns="91440" tIns="45720" rIns="91440" bIns="45720" rtlCol="0" anchor="ctr"/>
          <a:lstStyle>
            <a:lvl1pPr algn="ctr">
              <a:defRPr sz="2807">
                <a:solidFill>
                  <a:schemeClr val="tx1">
                    <a:tint val="75000"/>
                  </a:schemeClr>
                </a:solidFill>
              </a:defRPr>
            </a:lvl1pPr>
          </a:lstStyle>
          <a:p>
            <a:endParaRPr kumimoji="1" lang="zh-TW" altLang="en-US"/>
          </a:p>
        </p:txBody>
      </p:sp>
      <p:sp>
        <p:nvSpPr>
          <p:cNvPr id="6" name="Slide Number Placeholder 5"/>
          <p:cNvSpPr>
            <a:spLocks noGrp="1"/>
          </p:cNvSpPr>
          <p:nvPr>
            <p:ph type="sldNum" sz="quarter" idx="4"/>
          </p:nvPr>
        </p:nvSpPr>
        <p:spPr>
          <a:xfrm>
            <a:off x="15105549" y="28060644"/>
            <a:ext cx="4812387" cy="1611875"/>
          </a:xfrm>
          <a:prstGeom prst="rect">
            <a:avLst/>
          </a:prstGeom>
        </p:spPr>
        <p:txBody>
          <a:bodyPr vert="horz" lIns="91440" tIns="45720" rIns="91440" bIns="45720" rtlCol="0" anchor="ctr"/>
          <a:lstStyle>
            <a:lvl1pPr algn="r">
              <a:defRPr sz="2807">
                <a:solidFill>
                  <a:schemeClr val="tx1">
                    <a:tint val="75000"/>
                  </a:schemeClr>
                </a:solidFill>
              </a:defRPr>
            </a:lvl1pPr>
          </a:lstStyle>
          <a:p>
            <a:fld id="{62F1CBBC-053A-A240-92DB-658347C973C7}" type="slidenum">
              <a:rPr kumimoji="1" lang="zh-TW" altLang="en-US" smtClean="0"/>
              <a:t>‹#›</a:t>
            </a:fld>
            <a:endParaRPr kumimoji="1" lang="zh-TW" altLang="en-US"/>
          </a:p>
        </p:txBody>
      </p:sp>
    </p:spTree>
    <p:extLst>
      <p:ext uri="{BB962C8B-B14F-4D97-AF65-F5344CB8AC3E}">
        <p14:creationId xmlns:p14="http://schemas.microsoft.com/office/powerpoint/2010/main" val="295497926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2138873" rtl="0" eaLnBrk="1" latinLnBrk="0" hangingPunct="1">
        <a:lnSpc>
          <a:spcPct val="90000"/>
        </a:lnSpc>
        <a:spcBef>
          <a:spcPct val="0"/>
        </a:spcBef>
        <a:buNone/>
        <a:defRPr sz="10292" kern="1200">
          <a:solidFill>
            <a:schemeClr val="tx1"/>
          </a:solidFill>
          <a:latin typeface="+mj-lt"/>
          <a:ea typeface="+mj-ea"/>
          <a:cs typeface="+mj-cs"/>
        </a:defRPr>
      </a:lvl1pPr>
    </p:titleStyle>
    <p:bodyStyle>
      <a:lvl1pPr marL="534718" indent="-534718" algn="l" defTabSz="2138873" rtl="0" eaLnBrk="1" latinLnBrk="0" hangingPunct="1">
        <a:lnSpc>
          <a:spcPct val="90000"/>
        </a:lnSpc>
        <a:spcBef>
          <a:spcPts val="2339"/>
        </a:spcBef>
        <a:buFont typeface="Arial" panose="020B0604020202020204" pitchFamily="34" charset="0"/>
        <a:buChar char="•"/>
        <a:defRPr sz="6549" kern="1200">
          <a:solidFill>
            <a:schemeClr val="tx1"/>
          </a:solidFill>
          <a:latin typeface="+mn-lt"/>
          <a:ea typeface="+mn-ea"/>
          <a:cs typeface="+mn-cs"/>
        </a:defRPr>
      </a:lvl1pPr>
      <a:lvl2pPr marL="1604155" indent="-534718" algn="l" defTabSz="2138873" rtl="0" eaLnBrk="1" latinLnBrk="0" hangingPunct="1">
        <a:lnSpc>
          <a:spcPct val="90000"/>
        </a:lnSpc>
        <a:spcBef>
          <a:spcPts val="1170"/>
        </a:spcBef>
        <a:buFont typeface="Arial" panose="020B0604020202020204" pitchFamily="34" charset="0"/>
        <a:buChar char="•"/>
        <a:defRPr sz="5614" kern="1200">
          <a:solidFill>
            <a:schemeClr val="tx1"/>
          </a:solidFill>
          <a:latin typeface="+mn-lt"/>
          <a:ea typeface="+mn-ea"/>
          <a:cs typeface="+mn-cs"/>
        </a:defRPr>
      </a:lvl2pPr>
      <a:lvl3pPr marL="2673591" indent="-534718" algn="l" defTabSz="2138873" rtl="0" eaLnBrk="1" latinLnBrk="0" hangingPunct="1">
        <a:lnSpc>
          <a:spcPct val="90000"/>
        </a:lnSpc>
        <a:spcBef>
          <a:spcPts val="1170"/>
        </a:spcBef>
        <a:buFont typeface="Arial" panose="020B0604020202020204" pitchFamily="34" charset="0"/>
        <a:buChar char="•"/>
        <a:defRPr sz="4678" kern="1200">
          <a:solidFill>
            <a:schemeClr val="tx1"/>
          </a:solidFill>
          <a:latin typeface="+mn-lt"/>
          <a:ea typeface="+mn-ea"/>
          <a:cs typeface="+mn-cs"/>
        </a:defRPr>
      </a:lvl3pPr>
      <a:lvl4pPr marL="3743028" indent="-534718" algn="l" defTabSz="2138873"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4pPr>
      <a:lvl5pPr marL="4812464" indent="-534718" algn="l" defTabSz="2138873"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5pPr>
      <a:lvl6pPr marL="5881901" indent="-534718" algn="l" defTabSz="2138873"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6pPr>
      <a:lvl7pPr marL="6951337" indent="-534718" algn="l" defTabSz="2138873"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7pPr>
      <a:lvl8pPr marL="8020774" indent="-534718" algn="l" defTabSz="2138873"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8pPr>
      <a:lvl9pPr marL="9090210" indent="-534718" algn="l" defTabSz="2138873" rtl="0" eaLnBrk="1" latinLnBrk="0" hangingPunct="1">
        <a:lnSpc>
          <a:spcPct val="90000"/>
        </a:lnSpc>
        <a:spcBef>
          <a:spcPts val="1170"/>
        </a:spcBef>
        <a:buFont typeface="Arial" panose="020B0604020202020204" pitchFamily="34" charset="0"/>
        <a:buChar char="•"/>
        <a:defRPr sz="4210" kern="1200">
          <a:solidFill>
            <a:schemeClr val="tx1"/>
          </a:solidFill>
          <a:latin typeface="+mn-lt"/>
          <a:ea typeface="+mn-ea"/>
          <a:cs typeface="+mn-cs"/>
        </a:defRPr>
      </a:lvl9pPr>
    </p:bodyStyle>
    <p:otherStyle>
      <a:defPPr>
        <a:defRPr lang="en-US"/>
      </a:defPPr>
      <a:lvl1pPr marL="0" algn="l" defTabSz="2138873" rtl="0" eaLnBrk="1" latinLnBrk="0" hangingPunct="1">
        <a:defRPr sz="4210" kern="1200">
          <a:solidFill>
            <a:schemeClr val="tx1"/>
          </a:solidFill>
          <a:latin typeface="+mn-lt"/>
          <a:ea typeface="+mn-ea"/>
          <a:cs typeface="+mn-cs"/>
        </a:defRPr>
      </a:lvl1pPr>
      <a:lvl2pPr marL="1069437" algn="l" defTabSz="2138873" rtl="0" eaLnBrk="1" latinLnBrk="0" hangingPunct="1">
        <a:defRPr sz="4210" kern="1200">
          <a:solidFill>
            <a:schemeClr val="tx1"/>
          </a:solidFill>
          <a:latin typeface="+mn-lt"/>
          <a:ea typeface="+mn-ea"/>
          <a:cs typeface="+mn-cs"/>
        </a:defRPr>
      </a:lvl2pPr>
      <a:lvl3pPr marL="2138873" algn="l" defTabSz="2138873" rtl="0" eaLnBrk="1" latinLnBrk="0" hangingPunct="1">
        <a:defRPr sz="4210" kern="1200">
          <a:solidFill>
            <a:schemeClr val="tx1"/>
          </a:solidFill>
          <a:latin typeface="+mn-lt"/>
          <a:ea typeface="+mn-ea"/>
          <a:cs typeface="+mn-cs"/>
        </a:defRPr>
      </a:lvl3pPr>
      <a:lvl4pPr marL="3208310" algn="l" defTabSz="2138873" rtl="0" eaLnBrk="1" latinLnBrk="0" hangingPunct="1">
        <a:defRPr sz="4210" kern="1200">
          <a:solidFill>
            <a:schemeClr val="tx1"/>
          </a:solidFill>
          <a:latin typeface="+mn-lt"/>
          <a:ea typeface="+mn-ea"/>
          <a:cs typeface="+mn-cs"/>
        </a:defRPr>
      </a:lvl4pPr>
      <a:lvl5pPr marL="4277746" algn="l" defTabSz="2138873" rtl="0" eaLnBrk="1" latinLnBrk="0" hangingPunct="1">
        <a:defRPr sz="4210" kern="1200">
          <a:solidFill>
            <a:schemeClr val="tx1"/>
          </a:solidFill>
          <a:latin typeface="+mn-lt"/>
          <a:ea typeface="+mn-ea"/>
          <a:cs typeface="+mn-cs"/>
        </a:defRPr>
      </a:lvl5pPr>
      <a:lvl6pPr marL="5347183" algn="l" defTabSz="2138873" rtl="0" eaLnBrk="1" latinLnBrk="0" hangingPunct="1">
        <a:defRPr sz="4210" kern="1200">
          <a:solidFill>
            <a:schemeClr val="tx1"/>
          </a:solidFill>
          <a:latin typeface="+mn-lt"/>
          <a:ea typeface="+mn-ea"/>
          <a:cs typeface="+mn-cs"/>
        </a:defRPr>
      </a:lvl6pPr>
      <a:lvl7pPr marL="6416619" algn="l" defTabSz="2138873" rtl="0" eaLnBrk="1" latinLnBrk="0" hangingPunct="1">
        <a:defRPr sz="4210" kern="1200">
          <a:solidFill>
            <a:schemeClr val="tx1"/>
          </a:solidFill>
          <a:latin typeface="+mn-lt"/>
          <a:ea typeface="+mn-ea"/>
          <a:cs typeface="+mn-cs"/>
        </a:defRPr>
      </a:lvl7pPr>
      <a:lvl8pPr marL="7486056" algn="l" defTabSz="2138873" rtl="0" eaLnBrk="1" latinLnBrk="0" hangingPunct="1">
        <a:defRPr sz="4210" kern="1200">
          <a:solidFill>
            <a:schemeClr val="tx1"/>
          </a:solidFill>
          <a:latin typeface="+mn-lt"/>
          <a:ea typeface="+mn-ea"/>
          <a:cs typeface="+mn-cs"/>
        </a:defRPr>
      </a:lvl8pPr>
      <a:lvl9pPr marL="8555492" algn="l" defTabSz="2138873" rtl="0" eaLnBrk="1" latinLnBrk="0" hangingPunct="1">
        <a:defRPr sz="421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3" Type="http://schemas.openxmlformats.org/officeDocument/2006/relationships/image" Target="../media/image1.png"/><Relationship Id="rId21" Type="http://schemas.openxmlformats.org/officeDocument/2006/relationships/image" Target="../media/image19.png"/><Relationship Id="rId7" Type="http://schemas.openxmlformats.org/officeDocument/2006/relationships/image" Target="../media/image5.svg"/><Relationship Id="rId12" Type="http://schemas.openxmlformats.org/officeDocument/2006/relationships/image" Target="../media/image10.png"/><Relationship Id="rId17" Type="http://schemas.openxmlformats.org/officeDocument/2006/relationships/image" Target="../media/image1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svg"/><Relationship Id="rId22" Type="http://schemas.openxmlformats.org/officeDocument/2006/relationships/image" Target="../media/image20.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png"/><Relationship Id="rId17" Type="http://schemas.openxmlformats.org/officeDocument/2006/relationships/image" Target="../media/image22.png"/><Relationship Id="rId2" Type="http://schemas.openxmlformats.org/officeDocument/2006/relationships/notesSlide" Target="../notesSlides/notesSlide2.xml"/><Relationship Id="rId16"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id="{29E00D8C-A5BE-1C7A-4644-6910F193FD4C}"/>
              </a:ext>
            </a:extLst>
          </p:cNvPr>
          <p:cNvPicPr>
            <a:picLocks noChangeAspect="1"/>
          </p:cNvPicPr>
          <p:nvPr/>
        </p:nvPicPr>
        <p:blipFill>
          <a:blip r:embed="rId3"/>
          <a:srcRect b="68267"/>
          <a:stretch>
            <a:fillRect/>
          </a:stretch>
        </p:blipFill>
        <p:spPr>
          <a:xfrm>
            <a:off x="579846" y="22277275"/>
            <a:ext cx="5611754" cy="1594516"/>
          </a:xfrm>
          <a:prstGeom prst="rect">
            <a:avLst/>
          </a:prstGeom>
        </p:spPr>
      </p:pic>
      <p:sp>
        <p:nvSpPr>
          <p:cNvPr id="12" name="Rectangle 4">
            <a:extLst>
              <a:ext uri="{FF2B5EF4-FFF2-40B4-BE49-F238E27FC236}">
                <a16:creationId xmlns:a16="http://schemas.microsoft.com/office/drawing/2014/main" id="{403DD6F0-6EBC-E54F-E2F3-327D315ED926}"/>
              </a:ext>
            </a:extLst>
          </p:cNvPr>
          <p:cNvSpPr>
            <a:spLocks noChangeArrowheads="1"/>
          </p:cNvSpPr>
          <p:nvPr/>
        </p:nvSpPr>
        <p:spPr bwMode="auto">
          <a:xfrm flipH="1">
            <a:off x="0" y="0"/>
            <a:ext cx="21390769" cy="3011011"/>
          </a:xfrm>
          <a:prstGeom prst="rect">
            <a:avLst/>
          </a:prstGeom>
          <a:solidFill>
            <a:srgbClr val="235CBB"/>
          </a:solidFill>
          <a:ln w="9525">
            <a:noFill/>
            <a:miter lim="800000"/>
            <a:headEnd/>
            <a:tailEnd/>
          </a:ln>
          <a:effectLst/>
        </p:spPr>
        <p:txBody>
          <a:bodyPr lIns="160020" tIns="80010" rIns="160020" bIns="80010" anchor="ct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lgn="ctr"/>
            <a:r>
              <a:rPr lang="en-US" altLang="zh-CN" sz="7200" b="1" dirty="0">
                <a:solidFill>
                  <a:schemeClr val="bg1"/>
                </a:solidFill>
                <a:latin typeface="Abadi" panose="020B0604020104020204" pitchFamily="34" charset="0"/>
                <a:ea typeface="Roboto" panose="02000000000000000000" pitchFamily="2" charset="0"/>
              </a:rPr>
              <a:t>Singapore Fertility Trend: </a:t>
            </a:r>
          </a:p>
          <a:p>
            <a:pPr algn="ctr"/>
            <a:r>
              <a:rPr lang="en-US" altLang="zh-CN" sz="7200" b="1" dirty="0">
                <a:solidFill>
                  <a:schemeClr val="bg1"/>
                </a:solidFill>
                <a:latin typeface="Abadi" panose="020B0604020104020204" pitchFamily="34" charset="0"/>
                <a:ea typeface="Roboto" panose="02000000000000000000" pitchFamily="2" charset="0"/>
              </a:rPr>
              <a:t>A Visual Analytics Study</a:t>
            </a:r>
          </a:p>
        </p:txBody>
      </p:sp>
      <p:sp>
        <p:nvSpPr>
          <p:cNvPr id="22" name="Rectangle 5">
            <a:extLst>
              <a:ext uri="{FF2B5EF4-FFF2-40B4-BE49-F238E27FC236}">
                <a16:creationId xmlns:a16="http://schemas.microsoft.com/office/drawing/2014/main" id="{C0FE826A-D882-AE47-059B-B37A940A988E}"/>
              </a:ext>
            </a:extLst>
          </p:cNvPr>
          <p:cNvSpPr>
            <a:spLocks noChangeArrowheads="1"/>
          </p:cNvSpPr>
          <p:nvPr/>
        </p:nvSpPr>
        <p:spPr bwMode="auto">
          <a:xfrm flipH="1">
            <a:off x="-3" y="29592289"/>
            <a:ext cx="17325475" cy="714059"/>
          </a:xfrm>
          <a:prstGeom prst="rect">
            <a:avLst/>
          </a:prstGeom>
          <a:solidFill>
            <a:srgbClr val="235CBB"/>
          </a:solidFill>
          <a:ln w="9525">
            <a:noFill/>
            <a:miter lim="800000"/>
            <a:headEnd/>
            <a:tailEnd/>
          </a:ln>
          <a:effectLst/>
        </p:spPr>
        <p:txBody>
          <a:bodyPr wrap="none" anchor="ctr"/>
          <a:lstStyle/>
          <a:p>
            <a:endParaRPr lang="en-US" sz="1200">
              <a:latin typeface="Roboto" panose="02000000000000000000" pitchFamily="2" charset="0"/>
              <a:ea typeface="Roboto" panose="02000000000000000000" pitchFamily="2" charset="0"/>
            </a:endParaRPr>
          </a:p>
        </p:txBody>
      </p:sp>
      <p:sp>
        <p:nvSpPr>
          <p:cNvPr id="26" name="Rectangle 10">
            <a:extLst>
              <a:ext uri="{FF2B5EF4-FFF2-40B4-BE49-F238E27FC236}">
                <a16:creationId xmlns:a16="http://schemas.microsoft.com/office/drawing/2014/main" id="{36457560-DCD8-0C29-57BB-31506D180C9C}"/>
              </a:ext>
            </a:extLst>
          </p:cNvPr>
          <p:cNvSpPr>
            <a:spLocks noChangeArrowheads="1"/>
          </p:cNvSpPr>
          <p:nvPr/>
        </p:nvSpPr>
        <p:spPr bwMode="auto">
          <a:xfrm flipH="1">
            <a:off x="10991533" y="3535376"/>
            <a:ext cx="9804876" cy="714058"/>
          </a:xfrm>
          <a:prstGeom prst="rect">
            <a:avLst/>
          </a:prstGeom>
          <a:solidFill>
            <a:srgbClr val="235CBB"/>
          </a:solidFill>
          <a:ln w="9525">
            <a:noFill/>
            <a:miter lim="800000"/>
            <a:headEnd/>
            <a:tailEnd/>
          </a:ln>
          <a:effectLst/>
        </p:spPr>
        <p:txBody>
          <a:bodyPr wrap="none" lIns="160020" tIns="80010" rIns="160020" bIns="80010" anchor="ct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lgn="ctr"/>
            <a:r>
              <a:rPr lang="en-US" altLang="zh-CN" sz="5400" b="1">
                <a:solidFill>
                  <a:schemeClr val="bg1"/>
                </a:solidFill>
                <a:latin typeface="Abadi" panose="020B0604020104020204" pitchFamily="34" charset="0"/>
                <a:ea typeface="Roboto" panose="02000000000000000000" pitchFamily="2" charset="0"/>
              </a:rPr>
              <a:t>Analysis &amp; Results</a:t>
            </a:r>
            <a:endParaRPr lang="en-US" altLang="en-US" sz="2000" b="1">
              <a:solidFill>
                <a:schemeClr val="bg1"/>
              </a:solidFill>
              <a:latin typeface="Abadi" panose="020B0604020104020204" pitchFamily="34" charset="0"/>
              <a:ea typeface="Roboto" panose="02000000000000000000" pitchFamily="2" charset="0"/>
            </a:endParaRPr>
          </a:p>
        </p:txBody>
      </p:sp>
      <p:sp>
        <p:nvSpPr>
          <p:cNvPr id="30" name="Rectangle 11">
            <a:extLst>
              <a:ext uri="{FF2B5EF4-FFF2-40B4-BE49-F238E27FC236}">
                <a16:creationId xmlns:a16="http://schemas.microsoft.com/office/drawing/2014/main" id="{AAAA4C82-979E-C631-E21B-7825BE36FF80}"/>
              </a:ext>
            </a:extLst>
          </p:cNvPr>
          <p:cNvSpPr>
            <a:spLocks noChangeArrowheads="1"/>
          </p:cNvSpPr>
          <p:nvPr/>
        </p:nvSpPr>
        <p:spPr bwMode="auto">
          <a:xfrm flipH="1">
            <a:off x="590233" y="3534238"/>
            <a:ext cx="9804876" cy="714058"/>
          </a:xfrm>
          <a:prstGeom prst="rect">
            <a:avLst/>
          </a:prstGeom>
          <a:solidFill>
            <a:srgbClr val="235CBB"/>
          </a:solidFill>
          <a:ln w="9525">
            <a:noFill/>
            <a:miter lim="800000"/>
            <a:headEnd/>
            <a:tailEnd/>
          </a:ln>
          <a:effectLst/>
        </p:spPr>
        <p:txBody>
          <a:bodyPr wrap="none" lIns="160020" tIns="80010" rIns="160020" bIns="80010" anchor="ct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lgn="ctr"/>
            <a:r>
              <a:rPr lang="en-US" altLang="zh-CN" sz="5400" b="1">
                <a:solidFill>
                  <a:schemeClr val="bg1"/>
                </a:solidFill>
                <a:latin typeface="Abadi" panose="020B0604020104020204" pitchFamily="34" charset="0"/>
                <a:ea typeface="Roboto" panose="02000000000000000000" pitchFamily="2" charset="0"/>
              </a:rPr>
              <a:t>Introduction</a:t>
            </a:r>
            <a:endParaRPr lang="en-US" altLang="en-US" sz="5400" b="1">
              <a:solidFill>
                <a:schemeClr val="bg1"/>
              </a:solidFill>
              <a:latin typeface="Abadi" panose="020B0604020104020204" pitchFamily="34" charset="0"/>
              <a:ea typeface="Roboto" panose="02000000000000000000" pitchFamily="2" charset="0"/>
            </a:endParaRPr>
          </a:p>
        </p:txBody>
      </p:sp>
      <p:sp>
        <p:nvSpPr>
          <p:cNvPr id="34" name="Rectangle 12">
            <a:extLst>
              <a:ext uri="{FF2B5EF4-FFF2-40B4-BE49-F238E27FC236}">
                <a16:creationId xmlns:a16="http://schemas.microsoft.com/office/drawing/2014/main" id="{32A7F55E-D625-A16E-652E-D77627DB7889}"/>
              </a:ext>
            </a:extLst>
          </p:cNvPr>
          <p:cNvSpPr>
            <a:spLocks noChangeArrowheads="1"/>
          </p:cNvSpPr>
          <p:nvPr/>
        </p:nvSpPr>
        <p:spPr bwMode="auto">
          <a:xfrm flipH="1">
            <a:off x="11124488" y="27395202"/>
            <a:ext cx="9804876" cy="713025"/>
          </a:xfrm>
          <a:prstGeom prst="rect">
            <a:avLst/>
          </a:prstGeom>
          <a:solidFill>
            <a:srgbClr val="235CBB"/>
          </a:solidFill>
          <a:ln w="9525">
            <a:noFill/>
            <a:miter lim="800000"/>
            <a:headEnd/>
            <a:tailEnd/>
          </a:ln>
          <a:effectLst/>
        </p:spPr>
        <p:txBody>
          <a:bodyPr wrap="none" lIns="160020" tIns="80010" rIns="160020" bIns="80010" anchor="ct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lgn="ctr"/>
            <a:r>
              <a:rPr lang="en-US" altLang="zh-CN" sz="5400" b="1" dirty="0">
                <a:solidFill>
                  <a:schemeClr val="bg1"/>
                </a:solidFill>
                <a:latin typeface="Abadi" panose="020B0604020104020204" pitchFamily="34" charset="0"/>
                <a:ea typeface="Roboto" panose="02000000000000000000" pitchFamily="2" charset="0"/>
              </a:rPr>
              <a:t>Future Research</a:t>
            </a:r>
            <a:endParaRPr lang="en-US" altLang="en-US" sz="5400" b="1" dirty="0">
              <a:solidFill>
                <a:schemeClr val="bg1"/>
              </a:solidFill>
              <a:latin typeface="Abadi" panose="020B0604020104020204" pitchFamily="34" charset="0"/>
              <a:ea typeface="Roboto" panose="02000000000000000000" pitchFamily="2" charset="0"/>
            </a:endParaRPr>
          </a:p>
        </p:txBody>
      </p:sp>
      <p:sp>
        <p:nvSpPr>
          <p:cNvPr id="36" name="Rectangle 13">
            <a:extLst>
              <a:ext uri="{FF2B5EF4-FFF2-40B4-BE49-F238E27FC236}">
                <a16:creationId xmlns:a16="http://schemas.microsoft.com/office/drawing/2014/main" id="{2DFFBC5C-9118-2447-F7F9-CE45146B164E}"/>
              </a:ext>
            </a:extLst>
          </p:cNvPr>
          <p:cNvSpPr>
            <a:spLocks noChangeArrowheads="1"/>
          </p:cNvSpPr>
          <p:nvPr/>
        </p:nvSpPr>
        <p:spPr bwMode="auto">
          <a:xfrm flipH="1">
            <a:off x="522346" y="13937516"/>
            <a:ext cx="9804876" cy="714058"/>
          </a:xfrm>
          <a:prstGeom prst="rect">
            <a:avLst/>
          </a:prstGeom>
          <a:solidFill>
            <a:srgbClr val="235CBB"/>
          </a:solidFill>
          <a:ln w="9525">
            <a:noFill/>
            <a:miter lim="800000"/>
            <a:headEnd/>
            <a:tailEnd/>
          </a:ln>
          <a:effectLst/>
        </p:spPr>
        <p:txBody>
          <a:bodyPr wrap="none" lIns="160020" tIns="80010" rIns="160020" bIns="80010" anchor="ct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lgn="ctr"/>
            <a:r>
              <a:rPr lang="en-SG" altLang="zh-CN" sz="5400" b="1" dirty="0">
                <a:solidFill>
                  <a:schemeClr val="bg1"/>
                </a:solidFill>
                <a:latin typeface="Abadi" panose="020B0604020104020204" pitchFamily="34" charset="0"/>
                <a:ea typeface="Roboto" panose="02000000000000000000" pitchFamily="2" charset="0"/>
              </a:rPr>
              <a:t>Exploratory Data Analysis</a:t>
            </a:r>
            <a:endParaRPr lang="en-US" altLang="en-US" sz="5400" b="1" dirty="0">
              <a:solidFill>
                <a:schemeClr val="bg1"/>
              </a:solidFill>
              <a:latin typeface="Abadi" panose="020B0604020104020204" pitchFamily="34" charset="0"/>
              <a:ea typeface="Roboto" panose="02000000000000000000" pitchFamily="2" charset="0"/>
            </a:endParaRPr>
          </a:p>
        </p:txBody>
      </p:sp>
      <p:sp>
        <p:nvSpPr>
          <p:cNvPr id="50" name="Rectangle 5">
            <a:extLst>
              <a:ext uri="{FF2B5EF4-FFF2-40B4-BE49-F238E27FC236}">
                <a16:creationId xmlns:a16="http://schemas.microsoft.com/office/drawing/2014/main" id="{DACC1BE6-91AB-7639-6B85-A573B6F462C1}"/>
              </a:ext>
            </a:extLst>
          </p:cNvPr>
          <p:cNvSpPr>
            <a:spLocks noChangeArrowheads="1"/>
          </p:cNvSpPr>
          <p:nvPr/>
        </p:nvSpPr>
        <p:spPr bwMode="auto">
          <a:xfrm flipH="1">
            <a:off x="-1" y="3011012"/>
            <a:ext cx="21390769" cy="274320"/>
          </a:xfrm>
          <a:prstGeom prst="rect">
            <a:avLst/>
          </a:prstGeom>
          <a:solidFill>
            <a:srgbClr val="3FB5E5"/>
          </a:solidFill>
          <a:ln w="9525">
            <a:noFill/>
            <a:miter lim="800000"/>
            <a:headEnd/>
            <a:tailEnd/>
          </a:ln>
          <a:effectLst/>
        </p:spPr>
        <p:txBody>
          <a:bodyPr wrap="none" anchor="ctr"/>
          <a:lstStyle/>
          <a:p>
            <a:endParaRPr lang="en-US" sz="1200">
              <a:latin typeface="Roboto" panose="02000000000000000000" pitchFamily="2" charset="0"/>
              <a:ea typeface="Roboto" panose="02000000000000000000" pitchFamily="2" charset="0"/>
            </a:endParaRPr>
          </a:p>
        </p:txBody>
      </p:sp>
      <p:sp>
        <p:nvSpPr>
          <p:cNvPr id="52" name="TextBox 51">
            <a:extLst>
              <a:ext uri="{FF2B5EF4-FFF2-40B4-BE49-F238E27FC236}">
                <a16:creationId xmlns:a16="http://schemas.microsoft.com/office/drawing/2014/main" id="{C477D419-46DB-EA3A-B2F3-ED298C37B7B3}"/>
              </a:ext>
            </a:extLst>
          </p:cNvPr>
          <p:cNvSpPr txBox="1"/>
          <p:nvPr/>
        </p:nvSpPr>
        <p:spPr>
          <a:xfrm>
            <a:off x="1081449" y="29680285"/>
            <a:ext cx="15689183" cy="584775"/>
          </a:xfrm>
          <a:prstGeom prst="rect">
            <a:avLst/>
          </a:prstGeom>
          <a:noFill/>
        </p:spPr>
        <p:txBody>
          <a:bodyPr wrap="square">
            <a:spAutoFit/>
          </a:bodyPr>
          <a:lstStyle/>
          <a:p>
            <a:pPr algn="ctr"/>
            <a:r>
              <a:rPr lang="en-US" altLang="zh-CN" sz="3200" b="1" dirty="0">
                <a:solidFill>
                  <a:schemeClr val="bg1"/>
                </a:solidFill>
                <a:latin typeface="Abadi" panose="020B0604020104020204" pitchFamily="34" charset="0"/>
                <a:ea typeface="Roboto" panose="02000000000000000000" pitchFamily="2" charset="0"/>
              </a:rPr>
              <a:t>Cheok </a:t>
            </a:r>
            <a:r>
              <a:rPr lang="en-US" altLang="zh-CN" sz="3200" b="1" dirty="0" err="1">
                <a:solidFill>
                  <a:schemeClr val="bg1"/>
                </a:solidFill>
                <a:latin typeface="Abadi" panose="020B0604020104020204" pitchFamily="34" charset="0"/>
                <a:ea typeface="Roboto" panose="02000000000000000000" pitchFamily="2" charset="0"/>
              </a:rPr>
              <a:t>En</a:t>
            </a:r>
            <a:r>
              <a:rPr lang="en-US" altLang="zh-CN" sz="3200" b="1" dirty="0">
                <a:solidFill>
                  <a:schemeClr val="bg1"/>
                </a:solidFill>
                <a:latin typeface="Abadi" panose="020B0604020104020204" pitchFamily="34" charset="0"/>
                <a:ea typeface="Roboto" panose="02000000000000000000" pitchFamily="2" charset="0"/>
              </a:rPr>
              <a:t> Qi| </a:t>
            </a:r>
            <a:r>
              <a:rPr lang="en-US" altLang="zh-CN" sz="3200" b="1" dirty="0" err="1">
                <a:solidFill>
                  <a:schemeClr val="bg1"/>
                </a:solidFill>
                <a:latin typeface="Abadi" panose="020B0604020104020204" pitchFamily="34" charset="0"/>
                <a:ea typeface="Roboto" panose="02000000000000000000" pitchFamily="2" charset="0"/>
              </a:rPr>
              <a:t>Teong</a:t>
            </a:r>
            <a:r>
              <a:rPr lang="en-US" altLang="zh-CN" sz="3200" b="1" dirty="0">
                <a:solidFill>
                  <a:schemeClr val="bg1"/>
                </a:solidFill>
                <a:latin typeface="Abadi" panose="020B0604020104020204" pitchFamily="34" charset="0"/>
                <a:ea typeface="Roboto" panose="02000000000000000000" pitchFamily="2" charset="0"/>
              </a:rPr>
              <a:t> Sze Ching </a:t>
            </a:r>
          </a:p>
        </p:txBody>
      </p:sp>
      <p:pic>
        <p:nvPicPr>
          <p:cNvPr id="2" name="Picture 1">
            <a:extLst>
              <a:ext uri="{FF2B5EF4-FFF2-40B4-BE49-F238E27FC236}">
                <a16:creationId xmlns:a16="http://schemas.microsoft.com/office/drawing/2014/main" id="{D4F54917-595D-F591-EE2E-C16B3DA75C02}"/>
              </a:ext>
            </a:extLst>
          </p:cNvPr>
          <p:cNvPicPr>
            <a:picLocks noChangeAspect="1"/>
          </p:cNvPicPr>
          <p:nvPr/>
        </p:nvPicPr>
        <p:blipFill>
          <a:blip r:embed="rId4"/>
          <a:stretch>
            <a:fillRect/>
          </a:stretch>
        </p:blipFill>
        <p:spPr>
          <a:xfrm>
            <a:off x="17819049" y="29581539"/>
            <a:ext cx="3328323" cy="724810"/>
          </a:xfrm>
          <a:prstGeom prst="rect">
            <a:avLst/>
          </a:prstGeom>
        </p:spPr>
      </p:pic>
      <p:sp>
        <p:nvSpPr>
          <p:cNvPr id="7" name="Text Box 25">
            <a:extLst>
              <a:ext uri="{FF2B5EF4-FFF2-40B4-BE49-F238E27FC236}">
                <a16:creationId xmlns:a16="http://schemas.microsoft.com/office/drawing/2014/main" id="{45EB60D9-909B-44D0-9C4E-A7AACC19C46D}"/>
              </a:ext>
            </a:extLst>
          </p:cNvPr>
          <p:cNvSpPr txBox="1">
            <a:spLocks noChangeArrowheads="1"/>
          </p:cNvSpPr>
          <p:nvPr/>
        </p:nvSpPr>
        <p:spPr bwMode="auto">
          <a:xfrm flipH="1">
            <a:off x="590232" y="7074258"/>
            <a:ext cx="9669105" cy="2162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Project Objectives</a:t>
            </a:r>
          </a:p>
          <a:p>
            <a:pPr marL="508000" lvl="1" algn="just">
              <a:spcBef>
                <a:spcPts val="1200"/>
              </a:spcBef>
            </a:pPr>
            <a:r>
              <a:rPr lang="en-US" altLang="zh-TW" sz="2400" dirty="0">
                <a:latin typeface="Abadi" panose="020B0604020104020204" pitchFamily="34" charset="0"/>
                <a:ea typeface="Roboto" panose="02000000000000000000" pitchFamily="2" charset="0"/>
              </a:rPr>
              <a:t>Explore (</a:t>
            </a:r>
            <a:r>
              <a:rPr lang="en-US" altLang="zh-TW" sz="2400" dirty="0" err="1">
                <a:latin typeface="Abadi" panose="020B0604020104020204" pitchFamily="34" charset="0"/>
                <a:ea typeface="Roboto" panose="02000000000000000000" pitchFamily="2" charset="0"/>
              </a:rPr>
              <a:t>i</a:t>
            </a:r>
            <a:r>
              <a:rPr lang="en-US" altLang="zh-TW" sz="2400" dirty="0">
                <a:latin typeface="Abadi" panose="020B0604020104020204" pitchFamily="34" charset="0"/>
                <a:ea typeface="Roboto" panose="02000000000000000000" pitchFamily="2" charset="0"/>
              </a:rPr>
              <a:t>) how fertility has changed over time and (ii) examines whether demographic indicators, including marriage and divorce, are associated with fertility trends, including possible lag effects.</a:t>
            </a:r>
            <a:br>
              <a:rPr lang="en-US" altLang="zh-TW" sz="2400" dirty="0">
                <a:latin typeface="Abadi" panose="020B0604020104020204" pitchFamily="34" charset="0"/>
                <a:ea typeface="Roboto" panose="02000000000000000000" pitchFamily="2" charset="0"/>
              </a:rPr>
            </a:br>
            <a:endParaRPr lang="en-US" altLang="zh-TW" sz="2400" b="1" dirty="0">
              <a:solidFill>
                <a:srgbClr val="70B4FD"/>
              </a:solidFill>
              <a:latin typeface="Abadi" panose="020B0604020104020204" pitchFamily="34" charset="0"/>
              <a:ea typeface="Roboto" panose="02000000000000000000" pitchFamily="2" charset="0"/>
            </a:endParaRPr>
          </a:p>
        </p:txBody>
      </p:sp>
      <p:pic>
        <p:nvPicPr>
          <p:cNvPr id="15" name="Picture 14">
            <a:extLst>
              <a:ext uri="{FF2B5EF4-FFF2-40B4-BE49-F238E27FC236}">
                <a16:creationId xmlns:a16="http://schemas.microsoft.com/office/drawing/2014/main" id="{3C8E9414-5098-9EAA-A1E9-D23CE2C805B4}"/>
              </a:ext>
            </a:extLst>
          </p:cNvPr>
          <p:cNvPicPr>
            <a:picLocks noChangeAspect="1"/>
          </p:cNvPicPr>
          <p:nvPr/>
        </p:nvPicPr>
        <p:blipFill>
          <a:blip r:embed="rId5"/>
          <a:stretch>
            <a:fillRect/>
          </a:stretch>
        </p:blipFill>
        <p:spPr>
          <a:xfrm>
            <a:off x="632344" y="7931364"/>
            <a:ext cx="449105" cy="449105"/>
          </a:xfrm>
          <a:prstGeom prst="rect">
            <a:avLst/>
          </a:prstGeom>
        </p:spPr>
      </p:pic>
      <p:sp>
        <p:nvSpPr>
          <p:cNvPr id="16" name="Text Box 25">
            <a:extLst>
              <a:ext uri="{FF2B5EF4-FFF2-40B4-BE49-F238E27FC236}">
                <a16:creationId xmlns:a16="http://schemas.microsoft.com/office/drawing/2014/main" id="{22A537C8-ECD1-FEE9-6144-50C6677B67B4}"/>
              </a:ext>
            </a:extLst>
          </p:cNvPr>
          <p:cNvSpPr txBox="1">
            <a:spLocks noChangeArrowheads="1"/>
          </p:cNvSpPr>
          <p:nvPr/>
        </p:nvSpPr>
        <p:spPr bwMode="auto">
          <a:xfrm flipH="1">
            <a:off x="620399" y="4262992"/>
            <a:ext cx="9774710" cy="274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Background</a:t>
            </a:r>
          </a:p>
          <a:p>
            <a:pPr marL="850900" lvl="1" indent="-342900">
              <a:buFont typeface="Arial" panose="020B0604020202020204" pitchFamily="34" charset="0"/>
              <a:buChar char="•"/>
            </a:pPr>
            <a:r>
              <a:rPr lang="en-US" altLang="zh-TW" sz="2400" dirty="0">
                <a:latin typeface="Abadi" panose="020B0604020104020204" pitchFamily="34" charset="0"/>
                <a:ea typeface="Roboto" panose="02000000000000000000" pitchFamily="2" charset="0"/>
              </a:rPr>
              <a:t>Singapore’s total fertility rate has fallen to a historic low, raising concerns about population ageing and long-term labor force sustainability. </a:t>
            </a:r>
          </a:p>
          <a:p>
            <a:pPr marL="850900" lvl="1" indent="-342900">
              <a:buFont typeface="Arial" panose="020B0604020202020204" pitchFamily="34" charset="0"/>
              <a:buChar char="•"/>
            </a:pPr>
            <a:r>
              <a:rPr lang="en-US" altLang="zh-TW" sz="2400" dirty="0">
                <a:latin typeface="Abadi" panose="020B0604020104020204" pitchFamily="34" charset="0"/>
                <a:ea typeface="Roboto" panose="02000000000000000000" pitchFamily="2" charset="0"/>
              </a:rPr>
              <a:t>Fertility trends may be influenced by multiple demographic factors, including marriage, divorce, and birth postponement across age groups</a:t>
            </a:r>
          </a:p>
        </p:txBody>
      </p:sp>
      <p:sp>
        <p:nvSpPr>
          <p:cNvPr id="19" name="Text Box 25">
            <a:extLst>
              <a:ext uri="{FF2B5EF4-FFF2-40B4-BE49-F238E27FC236}">
                <a16:creationId xmlns:a16="http://schemas.microsoft.com/office/drawing/2014/main" id="{FD9F8C52-231E-1F67-C047-2E61C9BC18C9}"/>
              </a:ext>
            </a:extLst>
          </p:cNvPr>
          <p:cNvSpPr txBox="1">
            <a:spLocks noChangeArrowheads="1"/>
          </p:cNvSpPr>
          <p:nvPr/>
        </p:nvSpPr>
        <p:spPr bwMode="auto">
          <a:xfrm flipH="1">
            <a:off x="1166480" y="9945894"/>
            <a:ext cx="91114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Data Source: </a:t>
            </a:r>
            <a:r>
              <a:rPr lang="en-US" altLang="zh-TW" sz="2400" dirty="0">
                <a:latin typeface="Abadi" panose="020B0604020104020204" pitchFamily="34" charset="0"/>
                <a:ea typeface="Roboto" panose="02000000000000000000" pitchFamily="2" charset="0"/>
              </a:rPr>
              <a:t>Excel time series data extracted from CEIC database</a:t>
            </a:r>
          </a:p>
        </p:txBody>
      </p:sp>
      <p:sp>
        <p:nvSpPr>
          <p:cNvPr id="42" name="Text Box 25">
            <a:extLst>
              <a:ext uri="{FF2B5EF4-FFF2-40B4-BE49-F238E27FC236}">
                <a16:creationId xmlns:a16="http://schemas.microsoft.com/office/drawing/2014/main" id="{D0E929A9-BF71-E6D3-6A10-9B2384E58CA3}"/>
              </a:ext>
            </a:extLst>
          </p:cNvPr>
          <p:cNvSpPr txBox="1">
            <a:spLocks noChangeArrowheads="1"/>
          </p:cNvSpPr>
          <p:nvPr/>
        </p:nvSpPr>
        <p:spPr bwMode="auto">
          <a:xfrm flipH="1">
            <a:off x="1128765" y="10619891"/>
            <a:ext cx="9238830"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000"/>
              </a:spcBef>
            </a:pPr>
            <a:r>
              <a:rPr lang="en-US" altLang="zh-TW" sz="2400" b="1" dirty="0">
                <a:solidFill>
                  <a:srgbClr val="70B4FD"/>
                </a:solidFill>
                <a:latin typeface="Abadi" panose="020B0604020104020204" pitchFamily="34" charset="0"/>
                <a:ea typeface="Roboto" panose="02000000000000000000" pitchFamily="2" charset="0"/>
              </a:rPr>
              <a:t>Data </a:t>
            </a:r>
            <a:r>
              <a:rPr lang="en-SG" altLang="zh-TW" sz="2400" b="1" dirty="0">
                <a:solidFill>
                  <a:srgbClr val="70B4FD"/>
                </a:solidFill>
                <a:latin typeface="Abadi" panose="020B0604020104020204" pitchFamily="34" charset="0"/>
                <a:ea typeface="Roboto" panose="02000000000000000000" pitchFamily="2" charset="0"/>
              </a:rPr>
              <a:t>Cleaning </a:t>
            </a:r>
            <a:endParaRPr lang="en-US" altLang="zh-TW" sz="2400" b="1" dirty="0">
              <a:solidFill>
                <a:srgbClr val="70B4FD"/>
              </a:solidFill>
              <a:latin typeface="Abadi" panose="020B0604020104020204" pitchFamily="34" charset="0"/>
              <a:ea typeface="Roboto" panose="02000000000000000000" pitchFamily="2" charset="0"/>
            </a:endParaRPr>
          </a:p>
        </p:txBody>
      </p:sp>
      <p:sp>
        <p:nvSpPr>
          <p:cNvPr id="64" name="TextBox 63">
            <a:extLst>
              <a:ext uri="{FF2B5EF4-FFF2-40B4-BE49-F238E27FC236}">
                <a16:creationId xmlns:a16="http://schemas.microsoft.com/office/drawing/2014/main" id="{6DA9E008-1AD0-F5CC-68DC-18382733D734}"/>
              </a:ext>
            </a:extLst>
          </p:cNvPr>
          <p:cNvSpPr txBox="1"/>
          <p:nvPr/>
        </p:nvSpPr>
        <p:spPr>
          <a:xfrm>
            <a:off x="10991533" y="4246850"/>
            <a:ext cx="9804876" cy="516488"/>
          </a:xfrm>
          <a:prstGeom prst="rect">
            <a:avLst/>
          </a:prstGeom>
          <a:solidFill>
            <a:srgbClr val="235CBB">
              <a:alpha val="12941"/>
            </a:srgbClr>
          </a:solidFill>
        </p:spPr>
        <p:txBody>
          <a:bodyPr wrap="square">
            <a:spAutoFit/>
          </a:bodyPr>
          <a:lstStyle/>
          <a:p>
            <a:pPr algn="ctr">
              <a:lnSpc>
                <a:spcPct val="120000"/>
              </a:lnSpc>
              <a:spcBef>
                <a:spcPts val="1200"/>
              </a:spcBef>
            </a:pPr>
            <a:r>
              <a:rPr lang="en-US" altLang="zh-TW" sz="2400" b="1" u="sng" dirty="0">
                <a:latin typeface="Abadi" panose="020B0604020104020204" pitchFamily="34" charset="0"/>
                <a:ea typeface="Roboto" panose="02000000000000000000" pitchFamily="2" charset="0"/>
              </a:rPr>
              <a:t>Correlation Analysis</a:t>
            </a:r>
          </a:p>
        </p:txBody>
      </p:sp>
      <p:sp>
        <p:nvSpPr>
          <p:cNvPr id="67" name="TextBox 66">
            <a:extLst>
              <a:ext uri="{FF2B5EF4-FFF2-40B4-BE49-F238E27FC236}">
                <a16:creationId xmlns:a16="http://schemas.microsoft.com/office/drawing/2014/main" id="{F0CCB969-D0D5-A5AE-F124-CB9CFAC43A53}"/>
              </a:ext>
            </a:extLst>
          </p:cNvPr>
          <p:cNvSpPr txBox="1"/>
          <p:nvPr/>
        </p:nvSpPr>
        <p:spPr>
          <a:xfrm>
            <a:off x="11124488" y="15304016"/>
            <a:ext cx="9758399" cy="516488"/>
          </a:xfrm>
          <a:prstGeom prst="rect">
            <a:avLst/>
          </a:prstGeom>
          <a:solidFill>
            <a:srgbClr val="E3EAF6"/>
          </a:solidFill>
        </p:spPr>
        <p:txBody>
          <a:bodyPr wrap="square">
            <a:spAutoFit/>
          </a:bodyPr>
          <a:lstStyle/>
          <a:p>
            <a:pPr algn="ctr">
              <a:lnSpc>
                <a:spcPct val="120000"/>
              </a:lnSpc>
              <a:spcBef>
                <a:spcPts val="1200"/>
              </a:spcBef>
            </a:pPr>
            <a:r>
              <a:rPr lang="en-US" altLang="zh-TW" sz="2400" b="1" u="sng" dirty="0">
                <a:latin typeface="Abadi" panose="020B0604020104020204" pitchFamily="34" charset="0"/>
                <a:ea typeface="Roboto" panose="02000000000000000000" pitchFamily="2" charset="0"/>
              </a:rPr>
              <a:t>Regression Analysis</a:t>
            </a:r>
          </a:p>
        </p:txBody>
      </p:sp>
      <p:sp>
        <p:nvSpPr>
          <p:cNvPr id="5" name="Rectangle 11">
            <a:extLst>
              <a:ext uri="{FF2B5EF4-FFF2-40B4-BE49-F238E27FC236}">
                <a16:creationId xmlns:a16="http://schemas.microsoft.com/office/drawing/2014/main" id="{0EA60B49-CBD9-436C-AEFA-50A162284739}"/>
              </a:ext>
            </a:extLst>
          </p:cNvPr>
          <p:cNvSpPr>
            <a:spLocks noChangeArrowheads="1"/>
          </p:cNvSpPr>
          <p:nvPr/>
        </p:nvSpPr>
        <p:spPr bwMode="auto">
          <a:xfrm flipH="1">
            <a:off x="579846" y="9046041"/>
            <a:ext cx="9804876" cy="714058"/>
          </a:xfrm>
          <a:prstGeom prst="rect">
            <a:avLst/>
          </a:prstGeom>
          <a:solidFill>
            <a:srgbClr val="235CBB"/>
          </a:solidFill>
          <a:ln w="9525">
            <a:noFill/>
            <a:miter lim="800000"/>
            <a:headEnd/>
            <a:tailEnd/>
          </a:ln>
          <a:effectLst/>
        </p:spPr>
        <p:txBody>
          <a:bodyPr wrap="none" lIns="160020" tIns="80010" rIns="160020" bIns="80010" anchor="ct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lgn="ctr"/>
            <a:r>
              <a:rPr lang="en-US" altLang="zh-CN" sz="5400" b="1" dirty="0">
                <a:solidFill>
                  <a:schemeClr val="bg1"/>
                </a:solidFill>
                <a:latin typeface="Abadi" panose="020B0604020104020204" pitchFamily="34" charset="0"/>
                <a:ea typeface="Roboto" panose="02000000000000000000" pitchFamily="2" charset="0"/>
              </a:rPr>
              <a:t>Data Preparation</a:t>
            </a:r>
            <a:endParaRPr lang="en-US" altLang="en-US" sz="5400" b="1" dirty="0">
              <a:solidFill>
                <a:schemeClr val="bg1"/>
              </a:solidFill>
              <a:latin typeface="Abadi" panose="020B0604020104020204" pitchFamily="34" charset="0"/>
              <a:ea typeface="Roboto" panose="02000000000000000000" pitchFamily="2" charset="0"/>
            </a:endParaRPr>
          </a:p>
        </p:txBody>
      </p:sp>
      <p:pic>
        <p:nvPicPr>
          <p:cNvPr id="8" name="Graphic 7" descr="Badge 1 with solid fill">
            <a:extLst>
              <a:ext uri="{FF2B5EF4-FFF2-40B4-BE49-F238E27FC236}">
                <a16:creationId xmlns:a16="http://schemas.microsoft.com/office/drawing/2014/main" id="{AC0B415E-BC4F-07B4-63AF-5E882AA3513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2344" y="9938437"/>
            <a:ext cx="534136" cy="534136"/>
          </a:xfrm>
          <a:prstGeom prst="rect">
            <a:avLst/>
          </a:prstGeom>
        </p:spPr>
      </p:pic>
      <p:pic>
        <p:nvPicPr>
          <p:cNvPr id="13" name="Graphic 12" descr="Badge with solid fill">
            <a:extLst>
              <a:ext uri="{FF2B5EF4-FFF2-40B4-BE49-F238E27FC236}">
                <a16:creationId xmlns:a16="http://schemas.microsoft.com/office/drawing/2014/main" id="{983C51C4-557D-9D09-8525-7AAB4384349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2344" y="10639343"/>
            <a:ext cx="532800" cy="532800"/>
          </a:xfrm>
          <a:prstGeom prst="rect">
            <a:avLst/>
          </a:prstGeom>
        </p:spPr>
      </p:pic>
      <p:sp>
        <p:nvSpPr>
          <p:cNvPr id="68" name="TextBox 67">
            <a:extLst>
              <a:ext uri="{FF2B5EF4-FFF2-40B4-BE49-F238E27FC236}">
                <a16:creationId xmlns:a16="http://schemas.microsoft.com/office/drawing/2014/main" id="{57F8E55F-842C-2D0E-3BFC-5FDC61C97539}"/>
              </a:ext>
            </a:extLst>
          </p:cNvPr>
          <p:cNvSpPr txBox="1"/>
          <p:nvPr/>
        </p:nvSpPr>
        <p:spPr>
          <a:xfrm>
            <a:off x="11073789" y="28173165"/>
            <a:ext cx="9908098" cy="1200329"/>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Abadi" panose="020B0604020104020204" pitchFamily="34" charset="0"/>
              </a:rPr>
              <a:t>Investigate other social and economic factors influencing fertility, such as housing costs, career patterns, and childcare support.</a:t>
            </a:r>
          </a:p>
          <a:p>
            <a:pPr marL="342900" indent="-342900">
              <a:buFont typeface="Arial" panose="020B0604020202020204" pitchFamily="34" charset="0"/>
              <a:buChar char="•"/>
            </a:pPr>
            <a:r>
              <a:rPr lang="en-US" sz="2400" dirty="0">
                <a:latin typeface="Abadi" panose="020B0604020104020204" pitchFamily="34" charset="0"/>
              </a:rPr>
              <a:t>Extend analysis to forecasting modeling for population policy planning.</a:t>
            </a:r>
          </a:p>
        </p:txBody>
      </p:sp>
      <p:pic>
        <p:nvPicPr>
          <p:cNvPr id="3" name="Picture 2">
            <a:extLst>
              <a:ext uri="{FF2B5EF4-FFF2-40B4-BE49-F238E27FC236}">
                <a16:creationId xmlns:a16="http://schemas.microsoft.com/office/drawing/2014/main" id="{667716A0-F393-2972-EEC2-9D2B6AFBA78B}"/>
              </a:ext>
            </a:extLst>
          </p:cNvPr>
          <p:cNvPicPr>
            <a:picLocks noChangeAspect="1"/>
          </p:cNvPicPr>
          <p:nvPr/>
        </p:nvPicPr>
        <p:blipFill>
          <a:blip r:embed="rId10"/>
          <a:stretch>
            <a:fillRect/>
          </a:stretch>
        </p:blipFill>
        <p:spPr>
          <a:xfrm>
            <a:off x="18329448" y="490729"/>
            <a:ext cx="2244403" cy="2244403"/>
          </a:xfrm>
          <a:prstGeom prst="rect">
            <a:avLst/>
          </a:prstGeom>
        </p:spPr>
      </p:pic>
      <p:graphicFrame>
        <p:nvGraphicFramePr>
          <p:cNvPr id="4" name="Table 3">
            <a:extLst>
              <a:ext uri="{FF2B5EF4-FFF2-40B4-BE49-F238E27FC236}">
                <a16:creationId xmlns:a16="http://schemas.microsoft.com/office/drawing/2014/main" id="{D1F6E233-3518-8859-FA5F-03FE8021BED3}"/>
              </a:ext>
            </a:extLst>
          </p:cNvPr>
          <p:cNvGraphicFramePr>
            <a:graphicFrameLocks noGrp="1"/>
          </p:cNvGraphicFramePr>
          <p:nvPr>
            <p:extLst>
              <p:ext uri="{D42A27DB-BD31-4B8C-83A1-F6EECF244321}">
                <p14:modId xmlns:p14="http://schemas.microsoft.com/office/powerpoint/2010/main" val="2278001516"/>
              </p:ext>
            </p:extLst>
          </p:nvPr>
        </p:nvGraphicFramePr>
        <p:xfrm>
          <a:off x="1307721" y="11181668"/>
          <a:ext cx="8951616" cy="2590800"/>
        </p:xfrm>
        <a:graphic>
          <a:graphicData uri="http://schemas.openxmlformats.org/drawingml/2006/table">
            <a:tbl>
              <a:tblPr firstRow="1" bandRow="1">
                <a:tableStyleId>{F5AB1C69-6EDB-4FF4-983F-18BD219EF322}</a:tableStyleId>
              </a:tblPr>
              <a:tblGrid>
                <a:gridCol w="702469">
                  <a:extLst>
                    <a:ext uri="{9D8B030D-6E8A-4147-A177-3AD203B41FA5}">
                      <a16:colId xmlns:a16="http://schemas.microsoft.com/office/drawing/2014/main" val="2417386287"/>
                    </a:ext>
                  </a:extLst>
                </a:gridCol>
                <a:gridCol w="8249147">
                  <a:extLst>
                    <a:ext uri="{9D8B030D-6E8A-4147-A177-3AD203B41FA5}">
                      <a16:colId xmlns:a16="http://schemas.microsoft.com/office/drawing/2014/main" val="2097894684"/>
                    </a:ext>
                  </a:extLst>
                </a:gridCol>
              </a:tblGrid>
              <a:tr h="370840">
                <a:tc>
                  <a:txBody>
                    <a:bodyPr/>
                    <a:lstStyle/>
                    <a:p>
                      <a:r>
                        <a:rPr lang="en-SG" sz="2000" dirty="0">
                          <a:latin typeface="Abadi" panose="020B0604020104020204" pitchFamily="34" charset="0"/>
                        </a:rPr>
                        <a:t>Step</a:t>
                      </a:r>
                    </a:p>
                  </a:txBody>
                  <a:tcPr/>
                </a:tc>
                <a:tc>
                  <a:txBody>
                    <a:bodyPr/>
                    <a:lstStyle/>
                    <a:p>
                      <a:r>
                        <a:rPr lang="en-SG" sz="2000" dirty="0">
                          <a:latin typeface="Abadi" panose="020B0604020104020204" pitchFamily="34" charset="0"/>
                        </a:rPr>
                        <a:t>Description</a:t>
                      </a:r>
                    </a:p>
                  </a:txBody>
                  <a:tcPr/>
                </a:tc>
                <a:extLst>
                  <a:ext uri="{0D108BD9-81ED-4DB2-BD59-A6C34878D82A}">
                    <a16:rowId xmlns:a16="http://schemas.microsoft.com/office/drawing/2014/main" val="3634383974"/>
                  </a:ext>
                </a:extLst>
              </a:tr>
              <a:tr h="370840">
                <a:tc>
                  <a:txBody>
                    <a:bodyPr/>
                    <a:lstStyle/>
                    <a:p>
                      <a:r>
                        <a:rPr lang="en-SG" sz="2000" dirty="0">
                          <a:latin typeface="Abadi" panose="020B0604020104020204" pitchFamily="34" charset="0"/>
                        </a:rPr>
                        <a:t>1</a:t>
                      </a:r>
                    </a:p>
                  </a:txBody>
                  <a:tcPr/>
                </a:tc>
                <a:tc>
                  <a:txBody>
                    <a:bodyPr/>
                    <a:lstStyle/>
                    <a:p>
                      <a:r>
                        <a:rPr lang="en-US" sz="2000" dirty="0">
                          <a:latin typeface="Abadi" panose="020B0604020104020204" pitchFamily="34" charset="0"/>
                        </a:rPr>
                        <a:t>Extract original series labels from first row and convert them into clean, standardized variable names</a:t>
                      </a:r>
                      <a:endParaRPr lang="en-SG" sz="2000" dirty="0">
                        <a:latin typeface="Abadi" panose="020B0604020104020204" pitchFamily="34" charset="0"/>
                      </a:endParaRPr>
                    </a:p>
                  </a:txBody>
                  <a:tcPr/>
                </a:tc>
                <a:extLst>
                  <a:ext uri="{0D108BD9-81ED-4DB2-BD59-A6C34878D82A}">
                    <a16:rowId xmlns:a16="http://schemas.microsoft.com/office/drawing/2014/main" val="3839468499"/>
                  </a:ext>
                </a:extLst>
              </a:tr>
              <a:tr h="370840">
                <a:tc>
                  <a:txBody>
                    <a:bodyPr/>
                    <a:lstStyle/>
                    <a:p>
                      <a:r>
                        <a:rPr lang="en-SG" sz="2000" dirty="0">
                          <a:latin typeface="Abadi" panose="020B0604020104020204" pitchFamily="34" charset="0"/>
                        </a:rPr>
                        <a:t>2</a:t>
                      </a:r>
                    </a:p>
                  </a:txBody>
                  <a:tcPr/>
                </a:tc>
                <a:tc>
                  <a:txBody>
                    <a:bodyPr/>
                    <a:lstStyle/>
                    <a:p>
                      <a:r>
                        <a:rPr lang="en-US" sz="2000" dirty="0">
                          <a:latin typeface="Abadi" panose="020B0604020104020204" pitchFamily="34" charset="0"/>
                        </a:rPr>
                        <a:t>Transform text values into numeric format and ensure one observation per year per series.</a:t>
                      </a:r>
                      <a:endParaRPr lang="en-SG" sz="2000" dirty="0">
                        <a:latin typeface="Abadi" panose="020B0604020104020204" pitchFamily="34" charset="0"/>
                      </a:endParaRPr>
                    </a:p>
                  </a:txBody>
                  <a:tcPr/>
                </a:tc>
                <a:extLst>
                  <a:ext uri="{0D108BD9-81ED-4DB2-BD59-A6C34878D82A}">
                    <a16:rowId xmlns:a16="http://schemas.microsoft.com/office/drawing/2014/main" val="2473749069"/>
                  </a:ext>
                </a:extLst>
              </a:tr>
              <a:tr h="370840">
                <a:tc>
                  <a:txBody>
                    <a:bodyPr/>
                    <a:lstStyle/>
                    <a:p>
                      <a:r>
                        <a:rPr lang="en-SG" sz="2000" dirty="0">
                          <a:latin typeface="Abadi" panose="020B0604020104020204" pitchFamily="34" charset="0"/>
                        </a:rPr>
                        <a:t>3</a:t>
                      </a:r>
                    </a:p>
                  </a:txBody>
                  <a:tcPr/>
                </a:tc>
                <a:tc>
                  <a:txBody>
                    <a:bodyPr/>
                    <a:lstStyle/>
                    <a:p>
                      <a:r>
                        <a:rPr lang="en-SG" sz="2000" dirty="0">
                          <a:latin typeface="Abadi" panose="020B0604020104020204" pitchFamily="34" charset="0"/>
                        </a:rPr>
                        <a:t>Extract series used in this study – fertility, marriage, divorce rates</a:t>
                      </a:r>
                    </a:p>
                  </a:txBody>
                  <a:tcPr/>
                </a:tc>
                <a:extLst>
                  <a:ext uri="{0D108BD9-81ED-4DB2-BD59-A6C34878D82A}">
                    <a16:rowId xmlns:a16="http://schemas.microsoft.com/office/drawing/2014/main" val="2155261633"/>
                  </a:ext>
                </a:extLst>
              </a:tr>
              <a:tr h="370840">
                <a:tc>
                  <a:txBody>
                    <a:bodyPr/>
                    <a:lstStyle/>
                    <a:p>
                      <a:r>
                        <a:rPr lang="en-SG" sz="2000" dirty="0">
                          <a:latin typeface="Abadi" panose="020B0604020104020204" pitchFamily="34" charset="0"/>
                        </a:rPr>
                        <a:t>4</a:t>
                      </a:r>
                    </a:p>
                  </a:txBody>
                  <a:tcPr/>
                </a:tc>
                <a:tc>
                  <a:txBody>
                    <a:bodyPr/>
                    <a:lstStyle/>
                    <a:p>
                      <a:r>
                        <a:rPr lang="en-US" sz="2000" dirty="0">
                          <a:latin typeface="Abadi" panose="020B0604020104020204" pitchFamily="34" charset="0"/>
                        </a:rPr>
                        <a:t>Combine selected series into a clean dataset</a:t>
                      </a:r>
                      <a:endParaRPr lang="en-SG" sz="2000" dirty="0">
                        <a:latin typeface="Abadi" panose="020B0604020104020204" pitchFamily="34" charset="0"/>
                      </a:endParaRPr>
                    </a:p>
                  </a:txBody>
                  <a:tcPr/>
                </a:tc>
                <a:extLst>
                  <a:ext uri="{0D108BD9-81ED-4DB2-BD59-A6C34878D82A}">
                    <a16:rowId xmlns:a16="http://schemas.microsoft.com/office/drawing/2014/main" val="3529600660"/>
                  </a:ext>
                </a:extLst>
              </a:tr>
            </a:tbl>
          </a:graphicData>
        </a:graphic>
      </p:graphicFrame>
      <p:sp>
        <p:nvSpPr>
          <p:cNvPr id="10" name="Text Box 25">
            <a:extLst>
              <a:ext uri="{FF2B5EF4-FFF2-40B4-BE49-F238E27FC236}">
                <a16:creationId xmlns:a16="http://schemas.microsoft.com/office/drawing/2014/main" id="{B2A5F203-6F84-CB0A-829C-145029D5F1E5}"/>
              </a:ext>
            </a:extLst>
          </p:cNvPr>
          <p:cNvSpPr txBox="1">
            <a:spLocks noChangeArrowheads="1"/>
          </p:cNvSpPr>
          <p:nvPr/>
        </p:nvSpPr>
        <p:spPr bwMode="auto">
          <a:xfrm flipH="1">
            <a:off x="1154535" y="14916886"/>
            <a:ext cx="91114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Singapore Fertility Rate Trend</a:t>
            </a:r>
            <a:endParaRPr lang="en-US" altLang="zh-TW" sz="2400" dirty="0">
              <a:latin typeface="Abadi" panose="020B0604020104020204" pitchFamily="34" charset="0"/>
              <a:ea typeface="Roboto" panose="02000000000000000000" pitchFamily="2" charset="0"/>
            </a:endParaRPr>
          </a:p>
        </p:txBody>
      </p:sp>
      <p:pic>
        <p:nvPicPr>
          <p:cNvPr id="11" name="Graphic 10" descr="Badge 1 with solid fill">
            <a:extLst>
              <a:ext uri="{FF2B5EF4-FFF2-40B4-BE49-F238E27FC236}">
                <a16:creationId xmlns:a16="http://schemas.microsoft.com/office/drawing/2014/main" id="{4D37D0B2-98B7-1B3D-CB59-30604C9B4F5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0399" y="14909429"/>
            <a:ext cx="534136" cy="534136"/>
          </a:xfrm>
          <a:prstGeom prst="rect">
            <a:avLst/>
          </a:prstGeom>
        </p:spPr>
      </p:pic>
      <p:pic>
        <p:nvPicPr>
          <p:cNvPr id="17" name="Picture 16">
            <a:extLst>
              <a:ext uri="{FF2B5EF4-FFF2-40B4-BE49-F238E27FC236}">
                <a16:creationId xmlns:a16="http://schemas.microsoft.com/office/drawing/2014/main" id="{AE97016D-25CD-E217-E814-7A9D6AAC7B82}"/>
              </a:ext>
            </a:extLst>
          </p:cNvPr>
          <p:cNvPicPr>
            <a:picLocks noChangeAspect="1"/>
          </p:cNvPicPr>
          <p:nvPr/>
        </p:nvPicPr>
        <p:blipFill>
          <a:blip r:embed="rId11"/>
          <a:srcRect t="4726"/>
          <a:stretch>
            <a:fillRect/>
          </a:stretch>
        </p:blipFill>
        <p:spPr>
          <a:xfrm>
            <a:off x="522346" y="15443564"/>
            <a:ext cx="5255601" cy="3429351"/>
          </a:xfrm>
          <a:prstGeom prst="rect">
            <a:avLst/>
          </a:prstGeom>
        </p:spPr>
      </p:pic>
      <p:sp>
        <p:nvSpPr>
          <p:cNvPr id="18" name="Text Box 25">
            <a:extLst>
              <a:ext uri="{FF2B5EF4-FFF2-40B4-BE49-F238E27FC236}">
                <a16:creationId xmlns:a16="http://schemas.microsoft.com/office/drawing/2014/main" id="{6D191ABD-CEB7-E3CB-F8E0-3444C6E629FF}"/>
              </a:ext>
            </a:extLst>
          </p:cNvPr>
          <p:cNvSpPr txBox="1">
            <a:spLocks noChangeArrowheads="1"/>
          </p:cNvSpPr>
          <p:nvPr/>
        </p:nvSpPr>
        <p:spPr bwMode="auto">
          <a:xfrm flipH="1">
            <a:off x="6191600" y="21802990"/>
            <a:ext cx="4212455" cy="3854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latin typeface="Abadi" panose="020B0604020104020204" pitchFamily="34" charset="0"/>
                <a:ea typeface="Roboto" panose="02000000000000000000" pitchFamily="2" charset="0"/>
              </a:rPr>
              <a:t>Observation: </a:t>
            </a:r>
            <a:r>
              <a:rPr lang="en-US" altLang="zh-TW" sz="2400" dirty="0">
                <a:latin typeface="Abadi" panose="020B0604020104020204" pitchFamily="34" charset="0"/>
                <a:ea typeface="Roboto" panose="02000000000000000000" pitchFamily="2" charset="0"/>
              </a:rPr>
              <a:t>From 1980 onward, fertility and marriage rates generally decline, while divorce rates increase before stabilizing. These patterns suggest that changes in fertility may be linked to broader family-formation trends, although the chart does not imply causality.</a:t>
            </a:r>
          </a:p>
        </p:txBody>
      </p:sp>
      <p:pic>
        <p:nvPicPr>
          <p:cNvPr id="28" name="Graphic 27" descr="Badge with solid fill">
            <a:extLst>
              <a:ext uri="{FF2B5EF4-FFF2-40B4-BE49-F238E27FC236}">
                <a16:creationId xmlns:a16="http://schemas.microsoft.com/office/drawing/2014/main" id="{798E28F2-8D4F-4B2B-BCAD-70EF70BB33C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2344" y="21839856"/>
            <a:ext cx="532800" cy="532800"/>
          </a:xfrm>
          <a:prstGeom prst="rect">
            <a:avLst/>
          </a:prstGeom>
        </p:spPr>
      </p:pic>
      <p:pic>
        <p:nvPicPr>
          <p:cNvPr id="35" name="Picture 34">
            <a:extLst>
              <a:ext uri="{FF2B5EF4-FFF2-40B4-BE49-F238E27FC236}">
                <a16:creationId xmlns:a16="http://schemas.microsoft.com/office/drawing/2014/main" id="{B9BE39BB-348E-98EF-5D08-B0BAAB659578}"/>
              </a:ext>
            </a:extLst>
          </p:cNvPr>
          <p:cNvPicPr>
            <a:picLocks noChangeAspect="1"/>
          </p:cNvPicPr>
          <p:nvPr/>
        </p:nvPicPr>
        <p:blipFill>
          <a:blip r:embed="rId12"/>
          <a:srcRect b="8639"/>
          <a:stretch>
            <a:fillRect/>
          </a:stretch>
        </p:blipFill>
        <p:spPr>
          <a:xfrm>
            <a:off x="5783529" y="15380507"/>
            <a:ext cx="4488080" cy="3492409"/>
          </a:xfrm>
          <a:prstGeom prst="rect">
            <a:avLst/>
          </a:prstGeom>
        </p:spPr>
      </p:pic>
      <p:pic>
        <p:nvPicPr>
          <p:cNvPr id="39" name="Picture 38">
            <a:extLst>
              <a:ext uri="{FF2B5EF4-FFF2-40B4-BE49-F238E27FC236}">
                <a16:creationId xmlns:a16="http://schemas.microsoft.com/office/drawing/2014/main" id="{CF43E2ED-AFDE-F767-07E3-C38ECD283FC9}"/>
              </a:ext>
            </a:extLst>
          </p:cNvPr>
          <p:cNvPicPr>
            <a:picLocks noChangeAspect="1"/>
          </p:cNvPicPr>
          <p:nvPr/>
        </p:nvPicPr>
        <p:blipFill>
          <a:blip r:embed="rId3"/>
          <a:srcRect t="90980"/>
          <a:stretch>
            <a:fillRect/>
          </a:stretch>
        </p:blipFill>
        <p:spPr>
          <a:xfrm>
            <a:off x="594360" y="25393409"/>
            <a:ext cx="5611754" cy="453227"/>
          </a:xfrm>
          <a:prstGeom prst="rect">
            <a:avLst/>
          </a:prstGeom>
        </p:spPr>
      </p:pic>
      <p:pic>
        <p:nvPicPr>
          <p:cNvPr id="41" name="Picture 40">
            <a:extLst>
              <a:ext uri="{FF2B5EF4-FFF2-40B4-BE49-F238E27FC236}">
                <a16:creationId xmlns:a16="http://schemas.microsoft.com/office/drawing/2014/main" id="{B98154BF-7880-FF50-D6A3-18BF2CCF0A49}"/>
              </a:ext>
            </a:extLst>
          </p:cNvPr>
          <p:cNvPicPr>
            <a:picLocks noChangeAspect="1"/>
          </p:cNvPicPr>
          <p:nvPr/>
        </p:nvPicPr>
        <p:blipFill>
          <a:blip r:embed="rId3"/>
          <a:srcRect t="31417" b="37351"/>
          <a:stretch>
            <a:fillRect/>
          </a:stretch>
        </p:blipFill>
        <p:spPr>
          <a:xfrm>
            <a:off x="579846" y="23893228"/>
            <a:ext cx="5611754" cy="1569322"/>
          </a:xfrm>
          <a:prstGeom prst="rect">
            <a:avLst/>
          </a:prstGeom>
        </p:spPr>
      </p:pic>
      <p:sp>
        <p:nvSpPr>
          <p:cNvPr id="43" name="Text Box 25">
            <a:extLst>
              <a:ext uri="{FF2B5EF4-FFF2-40B4-BE49-F238E27FC236}">
                <a16:creationId xmlns:a16="http://schemas.microsoft.com/office/drawing/2014/main" id="{1B453A90-AF54-93FB-BDF2-BA6C717CA3EB}"/>
              </a:ext>
            </a:extLst>
          </p:cNvPr>
          <p:cNvSpPr txBox="1">
            <a:spLocks noChangeArrowheads="1"/>
          </p:cNvSpPr>
          <p:nvPr/>
        </p:nvSpPr>
        <p:spPr bwMode="auto">
          <a:xfrm flipH="1">
            <a:off x="1192434" y="21796544"/>
            <a:ext cx="91114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Marriage and Divorce Trend</a:t>
            </a:r>
            <a:endParaRPr lang="en-US" altLang="zh-TW" sz="2400" dirty="0">
              <a:latin typeface="Abadi" panose="020B0604020104020204" pitchFamily="34" charset="0"/>
              <a:ea typeface="Roboto" panose="02000000000000000000" pitchFamily="2" charset="0"/>
            </a:endParaRPr>
          </a:p>
        </p:txBody>
      </p:sp>
      <p:sp>
        <p:nvSpPr>
          <p:cNvPr id="44" name="Text Box 25">
            <a:extLst>
              <a:ext uri="{FF2B5EF4-FFF2-40B4-BE49-F238E27FC236}">
                <a16:creationId xmlns:a16="http://schemas.microsoft.com/office/drawing/2014/main" id="{C25736AC-8E82-EA1C-50CA-6CA5EDA32B4E}"/>
              </a:ext>
            </a:extLst>
          </p:cNvPr>
          <p:cNvSpPr txBox="1">
            <a:spLocks noChangeArrowheads="1"/>
          </p:cNvSpPr>
          <p:nvPr/>
        </p:nvSpPr>
        <p:spPr bwMode="auto">
          <a:xfrm flipH="1">
            <a:off x="659633" y="18860743"/>
            <a:ext cx="9599703" cy="2900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latin typeface="Abadi" panose="020B0604020104020204" pitchFamily="34" charset="0"/>
                <a:ea typeface="Roboto" panose="02000000000000000000" pitchFamily="2" charset="0"/>
              </a:rPr>
              <a:t>Observation: </a:t>
            </a:r>
            <a:r>
              <a:rPr lang="en-US" altLang="zh-TW" sz="2400" dirty="0">
                <a:latin typeface="Abadi" panose="020B0604020104020204" pitchFamily="34" charset="0"/>
                <a:ea typeface="Roboto" panose="02000000000000000000" pitchFamily="2" charset="0"/>
              </a:rPr>
              <a:t>Fertility rate has declined steadily since the 1960s. In 2025, TFR reached a historic low of 0.87, meaning on average woman would have fewer than one child if current rates persisted. </a:t>
            </a:r>
          </a:p>
          <a:p>
            <a:pPr>
              <a:spcBef>
                <a:spcPts val="1200"/>
              </a:spcBef>
            </a:pPr>
            <a:r>
              <a:rPr lang="en-US" altLang="zh-TW" sz="2400" dirty="0">
                <a:latin typeface="Abadi" panose="020B0604020104020204" pitchFamily="34" charset="0"/>
                <a:ea typeface="Roboto" panose="02000000000000000000" pitchFamily="2" charset="0"/>
              </a:rPr>
              <a:t>Several fertility peaks coincide with Dragon years (1976, 1988, 2000, 2012) - higher birth rates. However, many peaks occur in non-Dragon years, suggesting that zodiac effects may contribute to some spikes but do not fully explain fertility fluctuations.</a:t>
            </a:r>
          </a:p>
        </p:txBody>
      </p:sp>
      <p:sp>
        <p:nvSpPr>
          <p:cNvPr id="46" name="Text Box 25">
            <a:extLst>
              <a:ext uri="{FF2B5EF4-FFF2-40B4-BE49-F238E27FC236}">
                <a16:creationId xmlns:a16="http://schemas.microsoft.com/office/drawing/2014/main" id="{CCCF6F08-99CD-5D68-2543-B8C06ED683C7}"/>
              </a:ext>
            </a:extLst>
          </p:cNvPr>
          <p:cNvSpPr txBox="1">
            <a:spLocks noChangeArrowheads="1"/>
          </p:cNvSpPr>
          <p:nvPr/>
        </p:nvSpPr>
        <p:spPr bwMode="auto">
          <a:xfrm flipH="1">
            <a:off x="1154535" y="25935001"/>
            <a:ext cx="91114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Fertility Postponement</a:t>
            </a:r>
            <a:endParaRPr lang="en-US" altLang="zh-TW" sz="2400" dirty="0">
              <a:latin typeface="Abadi" panose="020B0604020104020204" pitchFamily="34" charset="0"/>
              <a:ea typeface="Roboto" panose="02000000000000000000" pitchFamily="2" charset="0"/>
            </a:endParaRPr>
          </a:p>
        </p:txBody>
      </p:sp>
      <p:pic>
        <p:nvPicPr>
          <p:cNvPr id="47" name="Graphic 46" descr="Badge 3 with solid fill">
            <a:extLst>
              <a:ext uri="{FF2B5EF4-FFF2-40B4-BE49-F238E27FC236}">
                <a16:creationId xmlns:a16="http://schemas.microsoft.com/office/drawing/2014/main" id="{B774AFFA-4096-8A8A-9277-2F21478BD65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9634" y="25926883"/>
            <a:ext cx="532800" cy="532800"/>
          </a:xfrm>
          <a:prstGeom prst="rect">
            <a:avLst/>
          </a:prstGeom>
        </p:spPr>
      </p:pic>
      <p:pic>
        <p:nvPicPr>
          <p:cNvPr id="49" name="Picture 48">
            <a:extLst>
              <a:ext uri="{FF2B5EF4-FFF2-40B4-BE49-F238E27FC236}">
                <a16:creationId xmlns:a16="http://schemas.microsoft.com/office/drawing/2014/main" id="{3AB07917-9D04-27A0-F9FA-56500CCA5617}"/>
              </a:ext>
            </a:extLst>
          </p:cNvPr>
          <p:cNvPicPr>
            <a:picLocks noChangeAspect="1"/>
          </p:cNvPicPr>
          <p:nvPr/>
        </p:nvPicPr>
        <p:blipFill>
          <a:blip r:embed="rId15"/>
          <a:stretch>
            <a:fillRect/>
          </a:stretch>
        </p:blipFill>
        <p:spPr>
          <a:xfrm>
            <a:off x="354015" y="26441678"/>
            <a:ext cx="5695570" cy="3156844"/>
          </a:xfrm>
          <a:prstGeom prst="rect">
            <a:avLst/>
          </a:prstGeom>
        </p:spPr>
      </p:pic>
      <p:sp>
        <p:nvSpPr>
          <p:cNvPr id="51" name="Text Box 25">
            <a:extLst>
              <a:ext uri="{FF2B5EF4-FFF2-40B4-BE49-F238E27FC236}">
                <a16:creationId xmlns:a16="http://schemas.microsoft.com/office/drawing/2014/main" id="{AE2E2759-E9BF-996D-8CF6-164E7C758554}"/>
              </a:ext>
            </a:extLst>
          </p:cNvPr>
          <p:cNvSpPr txBox="1">
            <a:spLocks noChangeArrowheads="1"/>
          </p:cNvSpPr>
          <p:nvPr/>
        </p:nvSpPr>
        <p:spPr bwMode="auto">
          <a:xfrm flipH="1">
            <a:off x="6220383" y="25903974"/>
            <a:ext cx="4212455" cy="3485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latin typeface="Abadi" panose="020B0604020104020204" pitchFamily="34" charset="0"/>
                <a:ea typeface="Roboto" panose="02000000000000000000" pitchFamily="2" charset="0"/>
              </a:rPr>
              <a:t>Observation: </a:t>
            </a:r>
            <a:r>
              <a:rPr lang="en-US" altLang="zh-TW" sz="2400" dirty="0">
                <a:latin typeface="Abadi" panose="020B0604020104020204" pitchFamily="34" charset="0"/>
                <a:ea typeface="Roboto" panose="02000000000000000000" pitchFamily="2" charset="0"/>
              </a:rPr>
              <a:t>Over time, the share of births shifts from younger women (15–24) to older age groups (30–39). This indicates birth postponement, where childbearing increasingly occurs later in life despite declining overall fertility.</a:t>
            </a:r>
          </a:p>
        </p:txBody>
      </p:sp>
      <p:sp>
        <p:nvSpPr>
          <p:cNvPr id="53" name="Text Box 25">
            <a:extLst>
              <a:ext uri="{FF2B5EF4-FFF2-40B4-BE49-F238E27FC236}">
                <a16:creationId xmlns:a16="http://schemas.microsoft.com/office/drawing/2014/main" id="{23C7E613-8EF3-61EB-6972-94F486F3474E}"/>
              </a:ext>
            </a:extLst>
          </p:cNvPr>
          <p:cNvSpPr txBox="1">
            <a:spLocks noChangeArrowheads="1"/>
          </p:cNvSpPr>
          <p:nvPr/>
        </p:nvSpPr>
        <p:spPr bwMode="auto">
          <a:xfrm flipH="1">
            <a:off x="11607926" y="5085245"/>
            <a:ext cx="91114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Fertility vs Marriage &amp; Divorce: Correlation Insights</a:t>
            </a:r>
            <a:endParaRPr lang="en-US" altLang="zh-TW" sz="2400" dirty="0">
              <a:latin typeface="Abadi" panose="020B0604020104020204" pitchFamily="34" charset="0"/>
              <a:ea typeface="Roboto" panose="02000000000000000000" pitchFamily="2" charset="0"/>
            </a:endParaRPr>
          </a:p>
        </p:txBody>
      </p:sp>
      <p:pic>
        <p:nvPicPr>
          <p:cNvPr id="54" name="Graphic 53" descr="Badge 1 with solid fill">
            <a:extLst>
              <a:ext uri="{FF2B5EF4-FFF2-40B4-BE49-F238E27FC236}">
                <a16:creationId xmlns:a16="http://schemas.microsoft.com/office/drawing/2014/main" id="{C3C838F6-4E06-133E-31D9-8B7D9D0FE36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073790" y="5077788"/>
            <a:ext cx="534136" cy="534136"/>
          </a:xfrm>
          <a:prstGeom prst="rect">
            <a:avLst/>
          </a:prstGeom>
        </p:spPr>
      </p:pic>
      <p:pic>
        <p:nvPicPr>
          <p:cNvPr id="56" name="Picture 55">
            <a:extLst>
              <a:ext uri="{FF2B5EF4-FFF2-40B4-BE49-F238E27FC236}">
                <a16:creationId xmlns:a16="http://schemas.microsoft.com/office/drawing/2014/main" id="{4330246F-636C-FEE6-513D-2FEA35B6AC50}"/>
              </a:ext>
            </a:extLst>
          </p:cNvPr>
          <p:cNvPicPr>
            <a:picLocks noChangeAspect="1"/>
          </p:cNvPicPr>
          <p:nvPr/>
        </p:nvPicPr>
        <p:blipFill>
          <a:blip r:embed="rId16"/>
          <a:stretch>
            <a:fillRect/>
          </a:stretch>
        </p:blipFill>
        <p:spPr>
          <a:xfrm>
            <a:off x="11073790" y="5953801"/>
            <a:ext cx="4000529" cy="3828537"/>
          </a:xfrm>
          <a:prstGeom prst="rect">
            <a:avLst/>
          </a:prstGeom>
        </p:spPr>
      </p:pic>
      <p:pic>
        <p:nvPicPr>
          <p:cNvPr id="58" name="Picture 57">
            <a:extLst>
              <a:ext uri="{FF2B5EF4-FFF2-40B4-BE49-F238E27FC236}">
                <a16:creationId xmlns:a16="http://schemas.microsoft.com/office/drawing/2014/main" id="{8F8265EC-E102-7B21-A734-E650ECA186FF}"/>
              </a:ext>
            </a:extLst>
          </p:cNvPr>
          <p:cNvPicPr>
            <a:picLocks noChangeAspect="1"/>
          </p:cNvPicPr>
          <p:nvPr/>
        </p:nvPicPr>
        <p:blipFill>
          <a:blip r:embed="rId17"/>
          <a:stretch>
            <a:fillRect/>
          </a:stretch>
        </p:blipFill>
        <p:spPr>
          <a:xfrm>
            <a:off x="15280603" y="5663972"/>
            <a:ext cx="5438815" cy="1783640"/>
          </a:xfrm>
          <a:prstGeom prst="rect">
            <a:avLst/>
          </a:prstGeom>
        </p:spPr>
      </p:pic>
      <p:sp>
        <p:nvSpPr>
          <p:cNvPr id="60" name="TextBox 59">
            <a:extLst>
              <a:ext uri="{FF2B5EF4-FFF2-40B4-BE49-F238E27FC236}">
                <a16:creationId xmlns:a16="http://schemas.microsoft.com/office/drawing/2014/main" id="{2A403969-30D5-F979-12E7-EB988DFBC15F}"/>
              </a:ext>
            </a:extLst>
          </p:cNvPr>
          <p:cNvSpPr txBox="1"/>
          <p:nvPr/>
        </p:nvSpPr>
        <p:spPr>
          <a:xfrm>
            <a:off x="15280604" y="7579199"/>
            <a:ext cx="5701284" cy="2308324"/>
          </a:xfrm>
          <a:prstGeom prst="rect">
            <a:avLst/>
          </a:prstGeom>
          <a:noFill/>
        </p:spPr>
        <p:txBody>
          <a:bodyPr wrap="square">
            <a:spAutoFit/>
          </a:bodyPr>
          <a:lstStyle/>
          <a:p>
            <a:r>
              <a:rPr lang="en-US" sz="2400" b="1" dirty="0">
                <a:latin typeface="Abadi" panose="020B0604020104020204" pitchFamily="34" charset="0"/>
              </a:rPr>
              <a:t>Observation: </a:t>
            </a:r>
            <a:r>
              <a:rPr lang="en-US" sz="2400" dirty="0">
                <a:latin typeface="Abadi" panose="020B0604020104020204" pitchFamily="34" charset="0"/>
              </a:rPr>
              <a:t>TFR is strongly positively correlated with marriage and negatively correlated with divorce. However, after removing long-run trends, the TFR–divorce relationship weakens substantially, suggesting it is largely trend-driven.</a:t>
            </a:r>
            <a:endParaRPr lang="en-SG" sz="2400" dirty="0">
              <a:latin typeface="Abadi" panose="020B0604020104020204" pitchFamily="34" charset="0"/>
            </a:endParaRPr>
          </a:p>
        </p:txBody>
      </p:sp>
      <p:sp>
        <p:nvSpPr>
          <p:cNvPr id="62" name="Text Box 25">
            <a:extLst>
              <a:ext uri="{FF2B5EF4-FFF2-40B4-BE49-F238E27FC236}">
                <a16:creationId xmlns:a16="http://schemas.microsoft.com/office/drawing/2014/main" id="{8528ECFA-3715-982C-89D0-7FFE1C7A2611}"/>
              </a:ext>
            </a:extLst>
          </p:cNvPr>
          <p:cNvSpPr txBox="1">
            <a:spLocks noChangeArrowheads="1"/>
          </p:cNvSpPr>
          <p:nvPr/>
        </p:nvSpPr>
        <p:spPr bwMode="auto">
          <a:xfrm flipH="1">
            <a:off x="11724406" y="10037499"/>
            <a:ext cx="9238830"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000"/>
              </a:spcBef>
            </a:pPr>
            <a:r>
              <a:rPr lang="en-SG" altLang="zh-TW" sz="2400" b="1" dirty="0">
                <a:solidFill>
                  <a:srgbClr val="70B4FD"/>
                </a:solidFill>
                <a:latin typeface="Abadi" panose="020B0604020104020204" pitchFamily="34" charset="0"/>
                <a:ea typeface="Roboto" panose="02000000000000000000" pitchFamily="2" charset="0"/>
              </a:rPr>
              <a:t>Rolling Correlation</a:t>
            </a:r>
            <a:endParaRPr lang="en-US" altLang="zh-TW" sz="2400" b="1" dirty="0">
              <a:solidFill>
                <a:srgbClr val="70B4FD"/>
              </a:solidFill>
              <a:latin typeface="Abadi" panose="020B0604020104020204" pitchFamily="34" charset="0"/>
              <a:ea typeface="Roboto" panose="02000000000000000000" pitchFamily="2" charset="0"/>
            </a:endParaRPr>
          </a:p>
        </p:txBody>
      </p:sp>
      <p:pic>
        <p:nvPicPr>
          <p:cNvPr id="63" name="Graphic 62" descr="Badge with solid fill">
            <a:extLst>
              <a:ext uri="{FF2B5EF4-FFF2-40B4-BE49-F238E27FC236}">
                <a16:creationId xmlns:a16="http://schemas.microsoft.com/office/drawing/2014/main" id="{7165B2D9-5B3E-2D87-F9DE-DA3863AA96D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227985" y="10056951"/>
            <a:ext cx="532800" cy="532800"/>
          </a:xfrm>
          <a:prstGeom prst="rect">
            <a:avLst/>
          </a:prstGeom>
        </p:spPr>
      </p:pic>
      <p:pic>
        <p:nvPicPr>
          <p:cNvPr id="66" name="Picture 65">
            <a:extLst>
              <a:ext uri="{FF2B5EF4-FFF2-40B4-BE49-F238E27FC236}">
                <a16:creationId xmlns:a16="http://schemas.microsoft.com/office/drawing/2014/main" id="{6AFCE017-7900-B9F5-F537-23B06A29CC5C}"/>
              </a:ext>
            </a:extLst>
          </p:cNvPr>
          <p:cNvPicPr>
            <a:picLocks noChangeAspect="1"/>
          </p:cNvPicPr>
          <p:nvPr/>
        </p:nvPicPr>
        <p:blipFill>
          <a:blip r:embed="rId18"/>
          <a:stretch>
            <a:fillRect/>
          </a:stretch>
        </p:blipFill>
        <p:spPr>
          <a:xfrm>
            <a:off x="11372905" y="10732213"/>
            <a:ext cx="5079174" cy="2953854"/>
          </a:xfrm>
          <a:prstGeom prst="rect">
            <a:avLst/>
          </a:prstGeom>
        </p:spPr>
      </p:pic>
      <p:sp>
        <p:nvSpPr>
          <p:cNvPr id="69" name="TextBox 68">
            <a:extLst>
              <a:ext uri="{FF2B5EF4-FFF2-40B4-BE49-F238E27FC236}">
                <a16:creationId xmlns:a16="http://schemas.microsoft.com/office/drawing/2014/main" id="{BD3D96FD-CDDF-AEBB-AFD6-174FFEC43D0D}"/>
              </a:ext>
            </a:extLst>
          </p:cNvPr>
          <p:cNvSpPr txBox="1"/>
          <p:nvPr/>
        </p:nvSpPr>
        <p:spPr>
          <a:xfrm>
            <a:off x="16751981" y="10536583"/>
            <a:ext cx="4126683" cy="3046988"/>
          </a:xfrm>
          <a:prstGeom prst="rect">
            <a:avLst/>
          </a:prstGeom>
          <a:noFill/>
        </p:spPr>
        <p:txBody>
          <a:bodyPr wrap="square">
            <a:spAutoFit/>
          </a:bodyPr>
          <a:lstStyle/>
          <a:p>
            <a:r>
              <a:rPr lang="en-US" sz="2400" b="1" dirty="0">
                <a:latin typeface="Abadi" panose="020B0604020104020204" pitchFamily="34" charset="0"/>
              </a:rPr>
              <a:t>Observation: </a:t>
            </a:r>
            <a:r>
              <a:rPr lang="en-US" sz="2400" dirty="0">
                <a:latin typeface="Abadi" panose="020B0604020104020204" pitchFamily="34" charset="0"/>
              </a:rPr>
              <a:t>Rolling correlations show that the relationship between TFR and marriage remains consistently positive over time. In contrast, the correlation between TFR and divorce varies substantially across periods.</a:t>
            </a:r>
            <a:endParaRPr lang="en-SG" sz="2400" dirty="0">
              <a:latin typeface="Abadi" panose="020B0604020104020204" pitchFamily="34" charset="0"/>
            </a:endParaRPr>
          </a:p>
        </p:txBody>
      </p:sp>
      <p:sp>
        <p:nvSpPr>
          <p:cNvPr id="73" name="TextBox 72">
            <a:extLst>
              <a:ext uri="{FF2B5EF4-FFF2-40B4-BE49-F238E27FC236}">
                <a16:creationId xmlns:a16="http://schemas.microsoft.com/office/drawing/2014/main" id="{DF5DCAC2-5E63-30DE-79A9-38337591672A}"/>
              </a:ext>
            </a:extLst>
          </p:cNvPr>
          <p:cNvSpPr txBox="1"/>
          <p:nvPr/>
        </p:nvSpPr>
        <p:spPr>
          <a:xfrm>
            <a:off x="11061167" y="13865605"/>
            <a:ext cx="9804875" cy="1200329"/>
          </a:xfrm>
          <a:prstGeom prst="rect">
            <a:avLst/>
          </a:prstGeom>
          <a:noFill/>
        </p:spPr>
        <p:txBody>
          <a:bodyPr wrap="square">
            <a:spAutoFit/>
          </a:bodyPr>
          <a:lstStyle/>
          <a:p>
            <a:r>
              <a:rPr lang="en-US" sz="2400" b="1" dirty="0">
                <a:solidFill>
                  <a:srgbClr val="70B4FD"/>
                </a:solidFill>
                <a:latin typeface="Abadi" panose="020B0604020104020204" pitchFamily="34" charset="0"/>
              </a:rPr>
              <a:t>Correlation conclusion: </a:t>
            </a:r>
            <a:r>
              <a:rPr lang="en-US" sz="2400" dirty="0">
                <a:latin typeface="Abadi" panose="020B0604020104020204" pitchFamily="34" charset="0"/>
              </a:rPr>
              <a:t>Marriage shows a more stable association with fertility, while the relationship between fertility and divorce appears less consistent and partly driven by long-run trends.</a:t>
            </a:r>
            <a:endParaRPr lang="en-SG" sz="2400" dirty="0">
              <a:latin typeface="Abadi" panose="020B0604020104020204" pitchFamily="34" charset="0"/>
            </a:endParaRPr>
          </a:p>
        </p:txBody>
      </p:sp>
      <p:sp>
        <p:nvSpPr>
          <p:cNvPr id="74" name="Text Box 25">
            <a:extLst>
              <a:ext uri="{FF2B5EF4-FFF2-40B4-BE49-F238E27FC236}">
                <a16:creationId xmlns:a16="http://schemas.microsoft.com/office/drawing/2014/main" id="{E0A83E9C-4EF5-7228-6621-199847D18209}"/>
              </a:ext>
            </a:extLst>
          </p:cNvPr>
          <p:cNvSpPr txBox="1">
            <a:spLocks noChangeArrowheads="1"/>
          </p:cNvSpPr>
          <p:nvPr/>
        </p:nvSpPr>
        <p:spPr bwMode="auto">
          <a:xfrm flipH="1">
            <a:off x="11794632" y="15959548"/>
            <a:ext cx="91114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Baseline regression</a:t>
            </a:r>
            <a:endParaRPr lang="en-US" altLang="zh-TW" sz="2400" dirty="0">
              <a:latin typeface="Abadi" panose="020B0604020104020204" pitchFamily="34" charset="0"/>
              <a:ea typeface="Roboto" panose="02000000000000000000" pitchFamily="2" charset="0"/>
            </a:endParaRPr>
          </a:p>
        </p:txBody>
      </p:sp>
      <p:pic>
        <p:nvPicPr>
          <p:cNvPr id="75" name="Graphic 74" descr="Badge 1 with solid fill">
            <a:extLst>
              <a:ext uri="{FF2B5EF4-FFF2-40B4-BE49-F238E27FC236}">
                <a16:creationId xmlns:a16="http://schemas.microsoft.com/office/drawing/2014/main" id="{DDEC8025-6737-06DF-D39F-FAF5CD65A94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60496" y="15952091"/>
            <a:ext cx="534136" cy="534136"/>
          </a:xfrm>
          <a:prstGeom prst="rect">
            <a:avLst/>
          </a:prstGeom>
        </p:spPr>
      </p:pic>
      <p:pic>
        <p:nvPicPr>
          <p:cNvPr id="77" name="Picture 76">
            <a:extLst>
              <a:ext uri="{FF2B5EF4-FFF2-40B4-BE49-F238E27FC236}">
                <a16:creationId xmlns:a16="http://schemas.microsoft.com/office/drawing/2014/main" id="{9C43A63F-37CC-0B37-12B2-1A347AA25AEF}"/>
              </a:ext>
            </a:extLst>
          </p:cNvPr>
          <p:cNvPicPr>
            <a:picLocks noChangeAspect="1"/>
          </p:cNvPicPr>
          <p:nvPr/>
        </p:nvPicPr>
        <p:blipFill>
          <a:blip r:embed="rId19"/>
          <a:stretch>
            <a:fillRect/>
          </a:stretch>
        </p:blipFill>
        <p:spPr>
          <a:xfrm>
            <a:off x="15417383" y="16209456"/>
            <a:ext cx="5410240" cy="952507"/>
          </a:xfrm>
          <a:prstGeom prst="rect">
            <a:avLst/>
          </a:prstGeom>
        </p:spPr>
      </p:pic>
      <p:pic>
        <p:nvPicPr>
          <p:cNvPr id="80" name="Picture 79">
            <a:extLst>
              <a:ext uri="{FF2B5EF4-FFF2-40B4-BE49-F238E27FC236}">
                <a16:creationId xmlns:a16="http://schemas.microsoft.com/office/drawing/2014/main" id="{41F51225-153D-A780-23BF-D5253E7E8AE6}"/>
              </a:ext>
            </a:extLst>
          </p:cNvPr>
          <p:cNvPicPr>
            <a:picLocks noChangeAspect="1"/>
          </p:cNvPicPr>
          <p:nvPr/>
        </p:nvPicPr>
        <p:blipFill>
          <a:blip r:embed="rId20"/>
          <a:stretch>
            <a:fillRect/>
          </a:stretch>
        </p:blipFill>
        <p:spPr>
          <a:xfrm>
            <a:off x="11200928" y="16462343"/>
            <a:ext cx="4107135" cy="3238524"/>
          </a:xfrm>
          <a:prstGeom prst="rect">
            <a:avLst/>
          </a:prstGeom>
        </p:spPr>
      </p:pic>
      <p:sp>
        <p:nvSpPr>
          <p:cNvPr id="86" name="TextBox 85">
            <a:extLst>
              <a:ext uri="{FF2B5EF4-FFF2-40B4-BE49-F238E27FC236}">
                <a16:creationId xmlns:a16="http://schemas.microsoft.com/office/drawing/2014/main" id="{D314A0D6-59FD-B1A9-9494-74AE5FA03F91}"/>
              </a:ext>
            </a:extLst>
          </p:cNvPr>
          <p:cNvSpPr txBox="1"/>
          <p:nvPr/>
        </p:nvSpPr>
        <p:spPr>
          <a:xfrm>
            <a:off x="15417383" y="17258541"/>
            <a:ext cx="5406486" cy="2677656"/>
          </a:xfrm>
          <a:prstGeom prst="rect">
            <a:avLst/>
          </a:prstGeom>
          <a:noFill/>
        </p:spPr>
        <p:txBody>
          <a:bodyPr wrap="square">
            <a:spAutoFit/>
          </a:bodyPr>
          <a:lstStyle/>
          <a:p>
            <a:r>
              <a:rPr lang="en-US" sz="2400" b="1" dirty="0">
                <a:latin typeface="Abadi" panose="020B0604020104020204" pitchFamily="34" charset="0"/>
              </a:rPr>
              <a:t>Observation: </a:t>
            </a:r>
            <a:r>
              <a:rPr lang="en-US" sz="2400" dirty="0">
                <a:latin typeface="Abadi" panose="020B0604020104020204" pitchFamily="34" charset="0"/>
              </a:rPr>
              <a:t>Marriage explains more variation in TFR (R² = 0.771) than divorce (R² = 0.595). When both variables are included together, divorce is no longer significant (p = 0.878), indicating that marriage is the stronger statistical indicator of fertility.</a:t>
            </a:r>
            <a:endParaRPr lang="en-SG" sz="2400" dirty="0">
              <a:latin typeface="Abadi" panose="020B0604020104020204" pitchFamily="34" charset="0"/>
            </a:endParaRPr>
          </a:p>
        </p:txBody>
      </p:sp>
      <p:sp>
        <p:nvSpPr>
          <p:cNvPr id="87" name="Text Box 25">
            <a:extLst>
              <a:ext uri="{FF2B5EF4-FFF2-40B4-BE49-F238E27FC236}">
                <a16:creationId xmlns:a16="http://schemas.microsoft.com/office/drawing/2014/main" id="{73D2C124-B878-D92C-1C3A-1C1780140FF7}"/>
              </a:ext>
            </a:extLst>
          </p:cNvPr>
          <p:cNvSpPr txBox="1">
            <a:spLocks noChangeArrowheads="1"/>
          </p:cNvSpPr>
          <p:nvPr/>
        </p:nvSpPr>
        <p:spPr bwMode="auto">
          <a:xfrm flipH="1">
            <a:off x="12033172" y="20146310"/>
            <a:ext cx="9238830"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000"/>
              </a:spcBef>
            </a:pPr>
            <a:r>
              <a:rPr lang="en-SG" altLang="zh-TW" sz="2400" b="1" dirty="0">
                <a:solidFill>
                  <a:srgbClr val="70B4FD"/>
                </a:solidFill>
                <a:latin typeface="Abadi" panose="020B0604020104020204" pitchFamily="34" charset="0"/>
                <a:ea typeface="Roboto" panose="02000000000000000000" pitchFamily="2" charset="0"/>
              </a:rPr>
              <a:t>Lagged regression</a:t>
            </a:r>
            <a:endParaRPr lang="en-US" altLang="zh-TW" sz="2400" b="1" dirty="0">
              <a:solidFill>
                <a:srgbClr val="70B4FD"/>
              </a:solidFill>
              <a:latin typeface="Abadi" panose="020B0604020104020204" pitchFamily="34" charset="0"/>
              <a:ea typeface="Roboto" panose="02000000000000000000" pitchFamily="2" charset="0"/>
            </a:endParaRPr>
          </a:p>
        </p:txBody>
      </p:sp>
      <p:pic>
        <p:nvPicPr>
          <p:cNvPr id="88" name="Graphic 87" descr="Badge with solid fill">
            <a:extLst>
              <a:ext uri="{FF2B5EF4-FFF2-40B4-BE49-F238E27FC236}">
                <a16:creationId xmlns:a16="http://schemas.microsoft.com/office/drawing/2014/main" id="{E57346BD-D905-D314-9150-851B07AB2C5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536751" y="20165762"/>
            <a:ext cx="532800" cy="532800"/>
          </a:xfrm>
          <a:prstGeom prst="rect">
            <a:avLst/>
          </a:prstGeom>
        </p:spPr>
      </p:pic>
      <p:pic>
        <p:nvPicPr>
          <p:cNvPr id="90" name="Picture 89">
            <a:extLst>
              <a:ext uri="{FF2B5EF4-FFF2-40B4-BE49-F238E27FC236}">
                <a16:creationId xmlns:a16="http://schemas.microsoft.com/office/drawing/2014/main" id="{56A86815-BB0E-821C-85FD-06ABCBDE4E36}"/>
              </a:ext>
            </a:extLst>
          </p:cNvPr>
          <p:cNvPicPr>
            <a:picLocks noChangeAspect="1"/>
          </p:cNvPicPr>
          <p:nvPr/>
        </p:nvPicPr>
        <p:blipFill>
          <a:blip r:embed="rId21"/>
          <a:stretch>
            <a:fillRect/>
          </a:stretch>
        </p:blipFill>
        <p:spPr>
          <a:xfrm>
            <a:off x="15238003" y="20473537"/>
            <a:ext cx="5410240" cy="1114433"/>
          </a:xfrm>
          <a:prstGeom prst="rect">
            <a:avLst/>
          </a:prstGeom>
        </p:spPr>
      </p:pic>
      <p:pic>
        <p:nvPicPr>
          <p:cNvPr id="92" name="Picture 91">
            <a:extLst>
              <a:ext uri="{FF2B5EF4-FFF2-40B4-BE49-F238E27FC236}">
                <a16:creationId xmlns:a16="http://schemas.microsoft.com/office/drawing/2014/main" id="{6B612949-FBD9-4D64-5153-81D9B3C41D07}"/>
              </a:ext>
            </a:extLst>
          </p:cNvPr>
          <p:cNvPicPr>
            <a:picLocks noChangeAspect="1"/>
          </p:cNvPicPr>
          <p:nvPr/>
        </p:nvPicPr>
        <p:blipFill>
          <a:blip r:embed="rId22"/>
          <a:stretch>
            <a:fillRect/>
          </a:stretch>
        </p:blipFill>
        <p:spPr>
          <a:xfrm>
            <a:off x="11119592" y="20795588"/>
            <a:ext cx="4067736" cy="4162947"/>
          </a:xfrm>
          <a:prstGeom prst="rect">
            <a:avLst/>
          </a:prstGeom>
        </p:spPr>
      </p:pic>
      <p:sp>
        <p:nvSpPr>
          <p:cNvPr id="94" name="TextBox 93">
            <a:extLst>
              <a:ext uri="{FF2B5EF4-FFF2-40B4-BE49-F238E27FC236}">
                <a16:creationId xmlns:a16="http://schemas.microsoft.com/office/drawing/2014/main" id="{9A2199A8-230D-772C-845D-5FCE9B79C8CD}"/>
              </a:ext>
            </a:extLst>
          </p:cNvPr>
          <p:cNvSpPr txBox="1"/>
          <p:nvPr/>
        </p:nvSpPr>
        <p:spPr>
          <a:xfrm>
            <a:off x="15251093" y="21587970"/>
            <a:ext cx="5627571" cy="3785652"/>
          </a:xfrm>
          <a:prstGeom prst="rect">
            <a:avLst/>
          </a:prstGeom>
          <a:noFill/>
        </p:spPr>
        <p:txBody>
          <a:bodyPr wrap="square">
            <a:spAutoFit/>
          </a:bodyPr>
          <a:lstStyle/>
          <a:p>
            <a:r>
              <a:rPr lang="en-US" sz="2400" b="1" dirty="0">
                <a:latin typeface="Abadi" panose="020B0604020104020204" pitchFamily="34" charset="0"/>
              </a:rPr>
              <a:t>Observation: </a:t>
            </a:r>
            <a:r>
              <a:rPr lang="en-US" sz="2400" dirty="0">
                <a:latin typeface="Abadi" panose="020B0604020104020204" pitchFamily="34" charset="0"/>
              </a:rPr>
              <a:t>Lagged marriage explains more variation in fertility (R² = 0.636) than lagged divorce (R² = 0.557). Including both lagged predictors increases R² only slightly (0.641), with lagged marriage significant (p = 0.004) and lagged divorce insignificant (p = 0.460). Overall, lagged effects are modest and do not improve explanatory power over current-year associations.</a:t>
            </a:r>
            <a:endParaRPr lang="en-SG" sz="2400" dirty="0">
              <a:latin typeface="Abadi" panose="020B0604020104020204" pitchFamily="34" charset="0"/>
            </a:endParaRPr>
          </a:p>
        </p:txBody>
      </p:sp>
      <p:sp>
        <p:nvSpPr>
          <p:cNvPr id="99" name="TextBox 98">
            <a:extLst>
              <a:ext uri="{FF2B5EF4-FFF2-40B4-BE49-F238E27FC236}">
                <a16:creationId xmlns:a16="http://schemas.microsoft.com/office/drawing/2014/main" id="{58B326BB-AE5D-08A6-B22F-AB6F181B7D7C}"/>
              </a:ext>
            </a:extLst>
          </p:cNvPr>
          <p:cNvSpPr txBox="1"/>
          <p:nvPr/>
        </p:nvSpPr>
        <p:spPr>
          <a:xfrm>
            <a:off x="11061167" y="25566540"/>
            <a:ext cx="10048515" cy="1569660"/>
          </a:xfrm>
          <a:prstGeom prst="rect">
            <a:avLst/>
          </a:prstGeom>
          <a:noFill/>
        </p:spPr>
        <p:txBody>
          <a:bodyPr wrap="square">
            <a:spAutoFit/>
          </a:bodyPr>
          <a:lstStyle/>
          <a:p>
            <a:r>
              <a:rPr lang="en-US" sz="2400" b="1" dirty="0">
                <a:solidFill>
                  <a:srgbClr val="70B4FD"/>
                </a:solidFill>
                <a:latin typeface="Abadi" panose="020B0604020104020204" pitchFamily="34" charset="0"/>
              </a:rPr>
              <a:t>Regression conclusion: </a:t>
            </a:r>
            <a:r>
              <a:rPr lang="en-US" sz="2400" dirty="0">
                <a:latin typeface="Abadi" panose="020B0604020104020204" pitchFamily="34" charset="0"/>
              </a:rPr>
              <a:t>Marriage is the strongest and most consistent indicator of fertility, while divorce shows a weaker and less stable association. Year-to-year fertility patterns are largely associated with current-year marriage trends, with only modest evidence of delayed effects.</a:t>
            </a:r>
          </a:p>
        </p:txBody>
      </p:sp>
    </p:spTree>
    <p:extLst>
      <p:ext uri="{BB962C8B-B14F-4D97-AF65-F5344CB8AC3E}">
        <p14:creationId xmlns:p14="http://schemas.microsoft.com/office/powerpoint/2010/main" val="25537905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28AA2-BDC7-C55D-6478-41A9FD60AAAA}"/>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BB663E93-307A-1E84-0EBC-A8E3012A36BE}"/>
              </a:ext>
            </a:extLst>
          </p:cNvPr>
          <p:cNvPicPr>
            <a:picLocks noChangeAspect="1"/>
          </p:cNvPicPr>
          <p:nvPr/>
        </p:nvPicPr>
        <p:blipFill>
          <a:blip r:embed="rId3"/>
          <a:srcRect b="68267"/>
          <a:stretch>
            <a:fillRect/>
          </a:stretch>
        </p:blipFill>
        <p:spPr>
          <a:xfrm>
            <a:off x="579846" y="22277275"/>
            <a:ext cx="5611754" cy="1594516"/>
          </a:xfrm>
          <a:prstGeom prst="rect">
            <a:avLst/>
          </a:prstGeom>
        </p:spPr>
      </p:pic>
      <p:sp>
        <p:nvSpPr>
          <p:cNvPr id="12" name="Rectangle 4">
            <a:extLst>
              <a:ext uri="{FF2B5EF4-FFF2-40B4-BE49-F238E27FC236}">
                <a16:creationId xmlns:a16="http://schemas.microsoft.com/office/drawing/2014/main" id="{C953D9C9-16FD-FBC0-7401-E86A6C5DFCA5}"/>
              </a:ext>
            </a:extLst>
          </p:cNvPr>
          <p:cNvSpPr>
            <a:spLocks noChangeArrowheads="1"/>
          </p:cNvSpPr>
          <p:nvPr/>
        </p:nvSpPr>
        <p:spPr bwMode="auto">
          <a:xfrm flipH="1">
            <a:off x="0" y="0"/>
            <a:ext cx="21390769" cy="3011011"/>
          </a:xfrm>
          <a:prstGeom prst="rect">
            <a:avLst/>
          </a:prstGeom>
          <a:solidFill>
            <a:srgbClr val="235CBB"/>
          </a:solidFill>
          <a:ln w="9525">
            <a:noFill/>
            <a:miter lim="800000"/>
            <a:headEnd/>
            <a:tailEnd/>
          </a:ln>
          <a:effectLst/>
        </p:spPr>
        <p:txBody>
          <a:bodyPr lIns="160020" tIns="80010" rIns="160020" bIns="80010" anchor="ct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lgn="ctr"/>
            <a:r>
              <a:rPr lang="en-US" altLang="zh-CN" sz="7200" b="1" dirty="0">
                <a:solidFill>
                  <a:schemeClr val="bg1"/>
                </a:solidFill>
                <a:latin typeface="Abadi" panose="020B0604020104020204" pitchFamily="34" charset="0"/>
                <a:ea typeface="Roboto" panose="02000000000000000000" pitchFamily="2" charset="0"/>
              </a:rPr>
              <a:t>Singapore Fertility Trend: </a:t>
            </a:r>
          </a:p>
          <a:p>
            <a:pPr algn="ctr"/>
            <a:r>
              <a:rPr lang="en-US" altLang="zh-CN" sz="7200" b="1" dirty="0">
                <a:solidFill>
                  <a:schemeClr val="bg1"/>
                </a:solidFill>
                <a:latin typeface="Abadi" panose="020B0604020104020204" pitchFamily="34" charset="0"/>
                <a:ea typeface="Roboto" panose="02000000000000000000" pitchFamily="2" charset="0"/>
              </a:rPr>
              <a:t>A Visual Analytics Study</a:t>
            </a:r>
          </a:p>
        </p:txBody>
      </p:sp>
      <p:sp>
        <p:nvSpPr>
          <p:cNvPr id="22" name="Rectangle 5">
            <a:extLst>
              <a:ext uri="{FF2B5EF4-FFF2-40B4-BE49-F238E27FC236}">
                <a16:creationId xmlns:a16="http://schemas.microsoft.com/office/drawing/2014/main" id="{338E4480-BA01-8680-74E3-BAFBFE773ADD}"/>
              </a:ext>
            </a:extLst>
          </p:cNvPr>
          <p:cNvSpPr>
            <a:spLocks noChangeArrowheads="1"/>
          </p:cNvSpPr>
          <p:nvPr/>
        </p:nvSpPr>
        <p:spPr bwMode="auto">
          <a:xfrm flipH="1">
            <a:off x="-3" y="29592289"/>
            <a:ext cx="17325475" cy="714059"/>
          </a:xfrm>
          <a:prstGeom prst="rect">
            <a:avLst/>
          </a:prstGeom>
          <a:solidFill>
            <a:srgbClr val="235CBB"/>
          </a:solidFill>
          <a:ln w="9525">
            <a:noFill/>
            <a:miter lim="800000"/>
            <a:headEnd/>
            <a:tailEnd/>
          </a:ln>
          <a:effectLst/>
        </p:spPr>
        <p:txBody>
          <a:bodyPr wrap="none" anchor="ctr"/>
          <a:lstStyle/>
          <a:p>
            <a:endParaRPr lang="en-US" sz="1200">
              <a:latin typeface="Roboto" panose="02000000000000000000" pitchFamily="2" charset="0"/>
              <a:ea typeface="Roboto" panose="02000000000000000000" pitchFamily="2" charset="0"/>
            </a:endParaRPr>
          </a:p>
        </p:txBody>
      </p:sp>
      <p:sp>
        <p:nvSpPr>
          <p:cNvPr id="26" name="Rectangle 10">
            <a:extLst>
              <a:ext uri="{FF2B5EF4-FFF2-40B4-BE49-F238E27FC236}">
                <a16:creationId xmlns:a16="http://schemas.microsoft.com/office/drawing/2014/main" id="{5BB2F718-BD8F-1D67-29DE-880E99C2E154}"/>
              </a:ext>
            </a:extLst>
          </p:cNvPr>
          <p:cNvSpPr>
            <a:spLocks noChangeArrowheads="1"/>
          </p:cNvSpPr>
          <p:nvPr/>
        </p:nvSpPr>
        <p:spPr bwMode="auto">
          <a:xfrm flipH="1">
            <a:off x="10991533" y="3535376"/>
            <a:ext cx="9804876" cy="714058"/>
          </a:xfrm>
          <a:prstGeom prst="rect">
            <a:avLst/>
          </a:prstGeom>
          <a:solidFill>
            <a:srgbClr val="235CBB"/>
          </a:solidFill>
          <a:ln w="9525">
            <a:noFill/>
            <a:miter lim="800000"/>
            <a:headEnd/>
            <a:tailEnd/>
          </a:ln>
          <a:effectLst/>
        </p:spPr>
        <p:txBody>
          <a:bodyPr wrap="none" lIns="160020" tIns="80010" rIns="160020" bIns="80010" anchor="ct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lgn="ctr"/>
            <a:r>
              <a:rPr lang="en-US" altLang="zh-CN" sz="5400" b="1">
                <a:solidFill>
                  <a:schemeClr val="bg1"/>
                </a:solidFill>
                <a:latin typeface="Abadi" panose="020B0604020104020204" pitchFamily="34" charset="0"/>
                <a:ea typeface="Roboto" panose="02000000000000000000" pitchFamily="2" charset="0"/>
              </a:rPr>
              <a:t>Analysis &amp; Results</a:t>
            </a:r>
            <a:endParaRPr lang="en-US" altLang="en-US" sz="2000" b="1">
              <a:solidFill>
                <a:schemeClr val="bg1"/>
              </a:solidFill>
              <a:latin typeface="Abadi" panose="020B0604020104020204" pitchFamily="34" charset="0"/>
              <a:ea typeface="Roboto" panose="02000000000000000000" pitchFamily="2" charset="0"/>
            </a:endParaRPr>
          </a:p>
        </p:txBody>
      </p:sp>
      <p:sp>
        <p:nvSpPr>
          <p:cNvPr id="30" name="Rectangle 11">
            <a:extLst>
              <a:ext uri="{FF2B5EF4-FFF2-40B4-BE49-F238E27FC236}">
                <a16:creationId xmlns:a16="http://schemas.microsoft.com/office/drawing/2014/main" id="{F99E2B3D-B604-57F4-86BB-8BEF3374B53A}"/>
              </a:ext>
            </a:extLst>
          </p:cNvPr>
          <p:cNvSpPr>
            <a:spLocks noChangeArrowheads="1"/>
          </p:cNvSpPr>
          <p:nvPr/>
        </p:nvSpPr>
        <p:spPr bwMode="auto">
          <a:xfrm flipH="1">
            <a:off x="590233" y="3534238"/>
            <a:ext cx="9804876" cy="714058"/>
          </a:xfrm>
          <a:prstGeom prst="rect">
            <a:avLst/>
          </a:prstGeom>
          <a:solidFill>
            <a:srgbClr val="235CBB"/>
          </a:solidFill>
          <a:ln w="9525">
            <a:noFill/>
            <a:miter lim="800000"/>
            <a:headEnd/>
            <a:tailEnd/>
          </a:ln>
          <a:effectLst/>
        </p:spPr>
        <p:txBody>
          <a:bodyPr wrap="none" lIns="160020" tIns="80010" rIns="160020" bIns="80010" anchor="ct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lgn="ctr"/>
            <a:r>
              <a:rPr lang="en-US" altLang="zh-CN" sz="5400" b="1">
                <a:solidFill>
                  <a:schemeClr val="bg1"/>
                </a:solidFill>
                <a:latin typeface="Abadi" panose="020B0604020104020204" pitchFamily="34" charset="0"/>
                <a:ea typeface="Roboto" panose="02000000000000000000" pitchFamily="2" charset="0"/>
              </a:rPr>
              <a:t>Introduction</a:t>
            </a:r>
            <a:endParaRPr lang="en-US" altLang="en-US" sz="5400" b="1">
              <a:solidFill>
                <a:schemeClr val="bg1"/>
              </a:solidFill>
              <a:latin typeface="Abadi" panose="020B0604020104020204" pitchFamily="34" charset="0"/>
              <a:ea typeface="Roboto" panose="02000000000000000000" pitchFamily="2" charset="0"/>
            </a:endParaRPr>
          </a:p>
        </p:txBody>
      </p:sp>
      <p:sp>
        <p:nvSpPr>
          <p:cNvPr id="34" name="Rectangle 12">
            <a:extLst>
              <a:ext uri="{FF2B5EF4-FFF2-40B4-BE49-F238E27FC236}">
                <a16:creationId xmlns:a16="http://schemas.microsoft.com/office/drawing/2014/main" id="{5D2268CD-A85A-EF6D-BB10-AEED620B2329}"/>
              </a:ext>
            </a:extLst>
          </p:cNvPr>
          <p:cNvSpPr>
            <a:spLocks noChangeArrowheads="1"/>
          </p:cNvSpPr>
          <p:nvPr/>
        </p:nvSpPr>
        <p:spPr bwMode="auto">
          <a:xfrm flipH="1">
            <a:off x="11124488" y="27395202"/>
            <a:ext cx="9804876" cy="713025"/>
          </a:xfrm>
          <a:prstGeom prst="rect">
            <a:avLst/>
          </a:prstGeom>
          <a:solidFill>
            <a:srgbClr val="235CBB"/>
          </a:solidFill>
          <a:ln w="9525">
            <a:noFill/>
            <a:miter lim="800000"/>
            <a:headEnd/>
            <a:tailEnd/>
          </a:ln>
          <a:effectLst/>
        </p:spPr>
        <p:txBody>
          <a:bodyPr wrap="none" lIns="160020" tIns="80010" rIns="160020" bIns="80010" anchor="ct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lgn="ctr"/>
            <a:r>
              <a:rPr lang="en-US" altLang="zh-CN" sz="5400" b="1" dirty="0">
                <a:solidFill>
                  <a:schemeClr val="bg1"/>
                </a:solidFill>
                <a:latin typeface="Abadi" panose="020B0604020104020204" pitchFamily="34" charset="0"/>
                <a:ea typeface="Roboto" panose="02000000000000000000" pitchFamily="2" charset="0"/>
              </a:rPr>
              <a:t>Future Research</a:t>
            </a:r>
            <a:endParaRPr lang="en-US" altLang="en-US" sz="5400" b="1" dirty="0">
              <a:solidFill>
                <a:schemeClr val="bg1"/>
              </a:solidFill>
              <a:latin typeface="Abadi" panose="020B0604020104020204" pitchFamily="34" charset="0"/>
              <a:ea typeface="Roboto" panose="02000000000000000000" pitchFamily="2" charset="0"/>
            </a:endParaRPr>
          </a:p>
        </p:txBody>
      </p:sp>
      <p:sp>
        <p:nvSpPr>
          <p:cNvPr id="36" name="Rectangle 13">
            <a:extLst>
              <a:ext uri="{FF2B5EF4-FFF2-40B4-BE49-F238E27FC236}">
                <a16:creationId xmlns:a16="http://schemas.microsoft.com/office/drawing/2014/main" id="{4DF1A202-5DB1-03AB-F8B8-DCB1DED9F494}"/>
              </a:ext>
            </a:extLst>
          </p:cNvPr>
          <p:cNvSpPr>
            <a:spLocks noChangeArrowheads="1"/>
          </p:cNvSpPr>
          <p:nvPr/>
        </p:nvSpPr>
        <p:spPr bwMode="auto">
          <a:xfrm flipH="1">
            <a:off x="522346" y="13937516"/>
            <a:ext cx="9804876" cy="714058"/>
          </a:xfrm>
          <a:prstGeom prst="rect">
            <a:avLst/>
          </a:prstGeom>
          <a:solidFill>
            <a:srgbClr val="235CBB"/>
          </a:solidFill>
          <a:ln w="9525">
            <a:noFill/>
            <a:miter lim="800000"/>
            <a:headEnd/>
            <a:tailEnd/>
          </a:ln>
          <a:effectLst/>
        </p:spPr>
        <p:txBody>
          <a:bodyPr wrap="none" lIns="160020" tIns="80010" rIns="160020" bIns="80010" anchor="ct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lgn="ctr"/>
            <a:r>
              <a:rPr lang="en-SG" altLang="zh-CN" sz="5400" b="1" dirty="0">
                <a:solidFill>
                  <a:schemeClr val="bg1"/>
                </a:solidFill>
                <a:latin typeface="Abadi" panose="020B0604020104020204" pitchFamily="34" charset="0"/>
                <a:ea typeface="Roboto" panose="02000000000000000000" pitchFamily="2" charset="0"/>
              </a:rPr>
              <a:t>Exploratory Data Analysis</a:t>
            </a:r>
            <a:endParaRPr lang="en-US" altLang="en-US" sz="5400" b="1" dirty="0">
              <a:solidFill>
                <a:schemeClr val="bg1"/>
              </a:solidFill>
              <a:latin typeface="Abadi" panose="020B0604020104020204" pitchFamily="34" charset="0"/>
              <a:ea typeface="Roboto" panose="02000000000000000000" pitchFamily="2" charset="0"/>
            </a:endParaRPr>
          </a:p>
        </p:txBody>
      </p:sp>
      <p:sp>
        <p:nvSpPr>
          <p:cNvPr id="50" name="Rectangle 5">
            <a:extLst>
              <a:ext uri="{FF2B5EF4-FFF2-40B4-BE49-F238E27FC236}">
                <a16:creationId xmlns:a16="http://schemas.microsoft.com/office/drawing/2014/main" id="{FD6C8459-47E3-AA2A-C344-9045B3013CF1}"/>
              </a:ext>
            </a:extLst>
          </p:cNvPr>
          <p:cNvSpPr>
            <a:spLocks noChangeArrowheads="1"/>
          </p:cNvSpPr>
          <p:nvPr/>
        </p:nvSpPr>
        <p:spPr bwMode="auto">
          <a:xfrm flipH="1">
            <a:off x="-1" y="3011012"/>
            <a:ext cx="21390769" cy="274320"/>
          </a:xfrm>
          <a:prstGeom prst="rect">
            <a:avLst/>
          </a:prstGeom>
          <a:solidFill>
            <a:srgbClr val="3FB5E5"/>
          </a:solidFill>
          <a:ln w="9525">
            <a:noFill/>
            <a:miter lim="800000"/>
            <a:headEnd/>
            <a:tailEnd/>
          </a:ln>
          <a:effectLst/>
        </p:spPr>
        <p:txBody>
          <a:bodyPr wrap="none" anchor="ctr"/>
          <a:lstStyle/>
          <a:p>
            <a:endParaRPr lang="en-US" sz="1200">
              <a:latin typeface="Roboto" panose="02000000000000000000" pitchFamily="2" charset="0"/>
              <a:ea typeface="Roboto" panose="02000000000000000000" pitchFamily="2" charset="0"/>
            </a:endParaRPr>
          </a:p>
        </p:txBody>
      </p:sp>
      <p:sp>
        <p:nvSpPr>
          <p:cNvPr id="52" name="TextBox 51">
            <a:extLst>
              <a:ext uri="{FF2B5EF4-FFF2-40B4-BE49-F238E27FC236}">
                <a16:creationId xmlns:a16="http://schemas.microsoft.com/office/drawing/2014/main" id="{28C516D0-DF5F-92DD-1812-ECAB27D823FB}"/>
              </a:ext>
            </a:extLst>
          </p:cNvPr>
          <p:cNvSpPr txBox="1"/>
          <p:nvPr/>
        </p:nvSpPr>
        <p:spPr>
          <a:xfrm>
            <a:off x="1081449" y="29680285"/>
            <a:ext cx="15689183" cy="584775"/>
          </a:xfrm>
          <a:prstGeom prst="rect">
            <a:avLst/>
          </a:prstGeom>
          <a:noFill/>
        </p:spPr>
        <p:txBody>
          <a:bodyPr wrap="square">
            <a:spAutoFit/>
          </a:bodyPr>
          <a:lstStyle/>
          <a:p>
            <a:pPr algn="ctr"/>
            <a:r>
              <a:rPr lang="en-US" altLang="zh-CN" sz="3200" b="1" dirty="0">
                <a:solidFill>
                  <a:schemeClr val="bg1"/>
                </a:solidFill>
                <a:latin typeface="Abadi" panose="020B0604020104020204" pitchFamily="34" charset="0"/>
                <a:ea typeface="Roboto" panose="02000000000000000000" pitchFamily="2" charset="0"/>
              </a:rPr>
              <a:t>Cheok </a:t>
            </a:r>
            <a:r>
              <a:rPr lang="en-US" altLang="zh-CN" sz="3200" b="1" dirty="0" err="1">
                <a:solidFill>
                  <a:schemeClr val="bg1"/>
                </a:solidFill>
                <a:latin typeface="Abadi" panose="020B0604020104020204" pitchFamily="34" charset="0"/>
                <a:ea typeface="Roboto" panose="02000000000000000000" pitchFamily="2" charset="0"/>
              </a:rPr>
              <a:t>En</a:t>
            </a:r>
            <a:r>
              <a:rPr lang="en-US" altLang="zh-CN" sz="3200" b="1" dirty="0">
                <a:solidFill>
                  <a:schemeClr val="bg1"/>
                </a:solidFill>
                <a:latin typeface="Abadi" panose="020B0604020104020204" pitchFamily="34" charset="0"/>
                <a:ea typeface="Roboto" panose="02000000000000000000" pitchFamily="2" charset="0"/>
              </a:rPr>
              <a:t> Qi| </a:t>
            </a:r>
            <a:r>
              <a:rPr lang="en-US" altLang="zh-CN" sz="3200" b="1" dirty="0" err="1">
                <a:solidFill>
                  <a:schemeClr val="bg1"/>
                </a:solidFill>
                <a:latin typeface="Abadi" panose="020B0604020104020204" pitchFamily="34" charset="0"/>
                <a:ea typeface="Roboto" panose="02000000000000000000" pitchFamily="2" charset="0"/>
              </a:rPr>
              <a:t>Teong</a:t>
            </a:r>
            <a:r>
              <a:rPr lang="en-US" altLang="zh-CN" sz="3200" b="1" dirty="0">
                <a:solidFill>
                  <a:schemeClr val="bg1"/>
                </a:solidFill>
                <a:latin typeface="Abadi" panose="020B0604020104020204" pitchFamily="34" charset="0"/>
                <a:ea typeface="Roboto" panose="02000000000000000000" pitchFamily="2" charset="0"/>
              </a:rPr>
              <a:t> Sze Ching </a:t>
            </a:r>
          </a:p>
        </p:txBody>
      </p:sp>
      <p:pic>
        <p:nvPicPr>
          <p:cNvPr id="2" name="Picture 1">
            <a:extLst>
              <a:ext uri="{FF2B5EF4-FFF2-40B4-BE49-F238E27FC236}">
                <a16:creationId xmlns:a16="http://schemas.microsoft.com/office/drawing/2014/main" id="{A99E3801-99B3-3D1D-9820-48695E819819}"/>
              </a:ext>
            </a:extLst>
          </p:cNvPr>
          <p:cNvPicPr>
            <a:picLocks noChangeAspect="1"/>
          </p:cNvPicPr>
          <p:nvPr/>
        </p:nvPicPr>
        <p:blipFill>
          <a:blip r:embed="rId4"/>
          <a:stretch>
            <a:fillRect/>
          </a:stretch>
        </p:blipFill>
        <p:spPr>
          <a:xfrm>
            <a:off x="17819049" y="29581539"/>
            <a:ext cx="3328323" cy="724810"/>
          </a:xfrm>
          <a:prstGeom prst="rect">
            <a:avLst/>
          </a:prstGeom>
        </p:spPr>
      </p:pic>
      <p:sp>
        <p:nvSpPr>
          <p:cNvPr id="7" name="Text Box 25">
            <a:extLst>
              <a:ext uri="{FF2B5EF4-FFF2-40B4-BE49-F238E27FC236}">
                <a16:creationId xmlns:a16="http://schemas.microsoft.com/office/drawing/2014/main" id="{7461F801-96C8-97E8-EBEE-D4CAECEF0EBB}"/>
              </a:ext>
            </a:extLst>
          </p:cNvPr>
          <p:cNvSpPr txBox="1">
            <a:spLocks noChangeArrowheads="1"/>
          </p:cNvSpPr>
          <p:nvPr/>
        </p:nvSpPr>
        <p:spPr bwMode="auto">
          <a:xfrm flipH="1">
            <a:off x="590232" y="7074258"/>
            <a:ext cx="9669105" cy="2162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Project Objectives</a:t>
            </a:r>
          </a:p>
          <a:p>
            <a:pPr marL="508000" lvl="1" algn="just">
              <a:spcBef>
                <a:spcPts val="1200"/>
              </a:spcBef>
            </a:pPr>
            <a:r>
              <a:rPr lang="en-US" altLang="zh-TW" sz="2400" dirty="0">
                <a:latin typeface="Abadi" panose="020B0604020104020204" pitchFamily="34" charset="0"/>
                <a:ea typeface="Roboto" panose="02000000000000000000" pitchFamily="2" charset="0"/>
              </a:rPr>
              <a:t>Explore (</a:t>
            </a:r>
            <a:r>
              <a:rPr lang="en-US" altLang="zh-TW" sz="2400" dirty="0" err="1">
                <a:latin typeface="Abadi" panose="020B0604020104020204" pitchFamily="34" charset="0"/>
                <a:ea typeface="Roboto" panose="02000000000000000000" pitchFamily="2" charset="0"/>
              </a:rPr>
              <a:t>i</a:t>
            </a:r>
            <a:r>
              <a:rPr lang="en-US" altLang="zh-TW" sz="2400" dirty="0">
                <a:latin typeface="Abadi" panose="020B0604020104020204" pitchFamily="34" charset="0"/>
                <a:ea typeface="Roboto" panose="02000000000000000000" pitchFamily="2" charset="0"/>
              </a:rPr>
              <a:t>) how fertility has changed over time and (ii) examines whether demographic indicators, including marriage and divorce, are associated with fertility trends, including possible lag effects.</a:t>
            </a:r>
            <a:br>
              <a:rPr lang="en-US" altLang="zh-TW" sz="2400" dirty="0">
                <a:latin typeface="Abadi" panose="020B0604020104020204" pitchFamily="34" charset="0"/>
                <a:ea typeface="Roboto" panose="02000000000000000000" pitchFamily="2" charset="0"/>
              </a:rPr>
            </a:br>
            <a:endParaRPr lang="en-US" altLang="zh-TW" sz="2400" b="1" dirty="0">
              <a:solidFill>
                <a:srgbClr val="70B4FD"/>
              </a:solidFill>
              <a:latin typeface="Abadi" panose="020B0604020104020204" pitchFamily="34" charset="0"/>
              <a:ea typeface="Roboto" panose="02000000000000000000" pitchFamily="2" charset="0"/>
            </a:endParaRPr>
          </a:p>
        </p:txBody>
      </p:sp>
      <p:pic>
        <p:nvPicPr>
          <p:cNvPr id="15" name="Picture 14">
            <a:extLst>
              <a:ext uri="{FF2B5EF4-FFF2-40B4-BE49-F238E27FC236}">
                <a16:creationId xmlns:a16="http://schemas.microsoft.com/office/drawing/2014/main" id="{4750F43B-3F41-95BA-7A90-378B744459DD}"/>
              </a:ext>
            </a:extLst>
          </p:cNvPr>
          <p:cNvPicPr>
            <a:picLocks noChangeAspect="1"/>
          </p:cNvPicPr>
          <p:nvPr/>
        </p:nvPicPr>
        <p:blipFill>
          <a:blip r:embed="rId5"/>
          <a:stretch>
            <a:fillRect/>
          </a:stretch>
        </p:blipFill>
        <p:spPr>
          <a:xfrm>
            <a:off x="632344" y="7931364"/>
            <a:ext cx="449105" cy="449105"/>
          </a:xfrm>
          <a:prstGeom prst="rect">
            <a:avLst/>
          </a:prstGeom>
        </p:spPr>
      </p:pic>
      <p:sp>
        <p:nvSpPr>
          <p:cNvPr id="16" name="Text Box 25">
            <a:extLst>
              <a:ext uri="{FF2B5EF4-FFF2-40B4-BE49-F238E27FC236}">
                <a16:creationId xmlns:a16="http://schemas.microsoft.com/office/drawing/2014/main" id="{096D346C-7E6C-3783-659C-BD32E687DD44}"/>
              </a:ext>
            </a:extLst>
          </p:cNvPr>
          <p:cNvSpPr txBox="1">
            <a:spLocks noChangeArrowheads="1"/>
          </p:cNvSpPr>
          <p:nvPr/>
        </p:nvSpPr>
        <p:spPr bwMode="auto">
          <a:xfrm flipH="1">
            <a:off x="620399" y="4262992"/>
            <a:ext cx="9774710" cy="2746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Background</a:t>
            </a:r>
          </a:p>
          <a:p>
            <a:pPr marL="850900" lvl="1" indent="-342900">
              <a:buFont typeface="Arial" panose="020B0604020202020204" pitchFamily="34" charset="0"/>
              <a:buChar char="•"/>
            </a:pPr>
            <a:r>
              <a:rPr lang="en-US" altLang="zh-TW" sz="2400" dirty="0">
                <a:latin typeface="Abadi" panose="020B0604020104020204" pitchFamily="34" charset="0"/>
                <a:ea typeface="Roboto" panose="02000000000000000000" pitchFamily="2" charset="0"/>
              </a:rPr>
              <a:t>Singapore’s total fertility rate has fallen to a historic low, raising concerns about population ageing and long-term labor force sustainability. </a:t>
            </a:r>
          </a:p>
          <a:p>
            <a:pPr marL="850900" lvl="1" indent="-342900">
              <a:buFont typeface="Arial" panose="020B0604020202020204" pitchFamily="34" charset="0"/>
              <a:buChar char="•"/>
            </a:pPr>
            <a:r>
              <a:rPr lang="en-US" altLang="zh-TW" sz="2400" dirty="0">
                <a:latin typeface="Abadi" panose="020B0604020104020204" pitchFamily="34" charset="0"/>
                <a:ea typeface="Roboto" panose="02000000000000000000" pitchFamily="2" charset="0"/>
              </a:rPr>
              <a:t>Fertility trends may be influenced by multiple demographic factors, including marriage, divorce, and birth postponement across age groups</a:t>
            </a:r>
          </a:p>
        </p:txBody>
      </p:sp>
      <p:sp>
        <p:nvSpPr>
          <p:cNvPr id="19" name="Text Box 25">
            <a:extLst>
              <a:ext uri="{FF2B5EF4-FFF2-40B4-BE49-F238E27FC236}">
                <a16:creationId xmlns:a16="http://schemas.microsoft.com/office/drawing/2014/main" id="{7E075F06-4F1F-0D69-DF2C-C0F19662B239}"/>
              </a:ext>
            </a:extLst>
          </p:cNvPr>
          <p:cNvSpPr txBox="1">
            <a:spLocks noChangeArrowheads="1"/>
          </p:cNvSpPr>
          <p:nvPr/>
        </p:nvSpPr>
        <p:spPr bwMode="auto">
          <a:xfrm flipH="1">
            <a:off x="1166480" y="9945894"/>
            <a:ext cx="91114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Data Source: </a:t>
            </a:r>
            <a:r>
              <a:rPr lang="en-US" altLang="zh-TW" sz="2400" dirty="0">
                <a:latin typeface="Abadi" panose="020B0604020104020204" pitchFamily="34" charset="0"/>
                <a:ea typeface="Roboto" panose="02000000000000000000" pitchFamily="2" charset="0"/>
              </a:rPr>
              <a:t>Excel time series data extracted from CEIC database</a:t>
            </a:r>
          </a:p>
        </p:txBody>
      </p:sp>
      <p:sp>
        <p:nvSpPr>
          <p:cNvPr id="42" name="Text Box 25">
            <a:extLst>
              <a:ext uri="{FF2B5EF4-FFF2-40B4-BE49-F238E27FC236}">
                <a16:creationId xmlns:a16="http://schemas.microsoft.com/office/drawing/2014/main" id="{1E4D58FD-7C54-01DF-17DF-AD98F4D4D2D6}"/>
              </a:ext>
            </a:extLst>
          </p:cNvPr>
          <p:cNvSpPr txBox="1">
            <a:spLocks noChangeArrowheads="1"/>
          </p:cNvSpPr>
          <p:nvPr/>
        </p:nvSpPr>
        <p:spPr bwMode="auto">
          <a:xfrm flipH="1">
            <a:off x="1128765" y="10619891"/>
            <a:ext cx="9238830"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000"/>
              </a:spcBef>
            </a:pPr>
            <a:r>
              <a:rPr lang="en-US" altLang="zh-TW" sz="2400" b="1" dirty="0">
                <a:solidFill>
                  <a:srgbClr val="70B4FD"/>
                </a:solidFill>
                <a:latin typeface="Abadi" panose="020B0604020104020204" pitchFamily="34" charset="0"/>
                <a:ea typeface="Roboto" panose="02000000000000000000" pitchFamily="2" charset="0"/>
              </a:rPr>
              <a:t>Data </a:t>
            </a:r>
            <a:r>
              <a:rPr lang="en-SG" altLang="zh-TW" sz="2400" b="1" dirty="0">
                <a:solidFill>
                  <a:srgbClr val="70B4FD"/>
                </a:solidFill>
                <a:latin typeface="Abadi" panose="020B0604020104020204" pitchFamily="34" charset="0"/>
                <a:ea typeface="Roboto" panose="02000000000000000000" pitchFamily="2" charset="0"/>
              </a:rPr>
              <a:t>Cleaning </a:t>
            </a:r>
            <a:endParaRPr lang="en-US" altLang="zh-TW" sz="2400" b="1" dirty="0">
              <a:solidFill>
                <a:srgbClr val="70B4FD"/>
              </a:solidFill>
              <a:latin typeface="Abadi" panose="020B0604020104020204" pitchFamily="34" charset="0"/>
              <a:ea typeface="Roboto" panose="02000000000000000000" pitchFamily="2" charset="0"/>
            </a:endParaRPr>
          </a:p>
        </p:txBody>
      </p:sp>
      <p:sp>
        <p:nvSpPr>
          <p:cNvPr id="64" name="TextBox 63">
            <a:extLst>
              <a:ext uri="{FF2B5EF4-FFF2-40B4-BE49-F238E27FC236}">
                <a16:creationId xmlns:a16="http://schemas.microsoft.com/office/drawing/2014/main" id="{6BA9CAE7-813E-5C8C-6A2B-CABB46B99D26}"/>
              </a:ext>
            </a:extLst>
          </p:cNvPr>
          <p:cNvSpPr txBox="1"/>
          <p:nvPr/>
        </p:nvSpPr>
        <p:spPr>
          <a:xfrm>
            <a:off x="10991533" y="4246850"/>
            <a:ext cx="9804876" cy="516488"/>
          </a:xfrm>
          <a:prstGeom prst="rect">
            <a:avLst/>
          </a:prstGeom>
          <a:solidFill>
            <a:srgbClr val="235CBB">
              <a:alpha val="12941"/>
            </a:srgbClr>
          </a:solidFill>
        </p:spPr>
        <p:txBody>
          <a:bodyPr wrap="square">
            <a:spAutoFit/>
          </a:bodyPr>
          <a:lstStyle/>
          <a:p>
            <a:pPr algn="ctr">
              <a:lnSpc>
                <a:spcPct val="120000"/>
              </a:lnSpc>
              <a:spcBef>
                <a:spcPts val="1200"/>
              </a:spcBef>
            </a:pPr>
            <a:r>
              <a:rPr lang="en-US" altLang="zh-TW" sz="2400" b="1" u="sng" dirty="0">
                <a:latin typeface="Abadi" panose="020B0604020104020204" pitchFamily="34" charset="0"/>
                <a:ea typeface="Roboto" panose="02000000000000000000" pitchFamily="2" charset="0"/>
              </a:rPr>
              <a:t>Cross Correlation Analysis</a:t>
            </a:r>
          </a:p>
        </p:txBody>
      </p:sp>
      <p:sp>
        <p:nvSpPr>
          <p:cNvPr id="67" name="TextBox 66">
            <a:extLst>
              <a:ext uri="{FF2B5EF4-FFF2-40B4-BE49-F238E27FC236}">
                <a16:creationId xmlns:a16="http://schemas.microsoft.com/office/drawing/2014/main" id="{080C5197-C484-54F2-4FF4-71B98F8C1547}"/>
              </a:ext>
            </a:extLst>
          </p:cNvPr>
          <p:cNvSpPr txBox="1"/>
          <p:nvPr/>
        </p:nvSpPr>
        <p:spPr>
          <a:xfrm>
            <a:off x="10991533" y="14332016"/>
            <a:ext cx="9758399" cy="516488"/>
          </a:xfrm>
          <a:prstGeom prst="rect">
            <a:avLst/>
          </a:prstGeom>
          <a:solidFill>
            <a:srgbClr val="E3EAF6"/>
          </a:solidFill>
        </p:spPr>
        <p:txBody>
          <a:bodyPr wrap="square" anchor="ctr">
            <a:spAutoFit/>
          </a:bodyPr>
          <a:lstStyle/>
          <a:p>
            <a:pPr algn="ctr">
              <a:lnSpc>
                <a:spcPct val="120000"/>
              </a:lnSpc>
              <a:spcBef>
                <a:spcPts val="1200"/>
              </a:spcBef>
            </a:pPr>
            <a:r>
              <a:rPr lang="en-US" altLang="zh-TW" sz="2400" b="1" u="sng" dirty="0">
                <a:latin typeface="Abadi" panose="020B0604020104020204" pitchFamily="34" charset="0"/>
                <a:ea typeface="Roboto" panose="02000000000000000000" pitchFamily="2" charset="0"/>
              </a:rPr>
              <a:t>Panel Regression Analysis</a:t>
            </a:r>
          </a:p>
        </p:txBody>
      </p:sp>
      <p:sp>
        <p:nvSpPr>
          <p:cNvPr id="5" name="Rectangle 11">
            <a:extLst>
              <a:ext uri="{FF2B5EF4-FFF2-40B4-BE49-F238E27FC236}">
                <a16:creationId xmlns:a16="http://schemas.microsoft.com/office/drawing/2014/main" id="{0C99326F-F532-1B46-BD8F-06800BE282A1}"/>
              </a:ext>
            </a:extLst>
          </p:cNvPr>
          <p:cNvSpPr>
            <a:spLocks noChangeArrowheads="1"/>
          </p:cNvSpPr>
          <p:nvPr/>
        </p:nvSpPr>
        <p:spPr bwMode="auto">
          <a:xfrm flipH="1">
            <a:off x="579846" y="9046041"/>
            <a:ext cx="9804876" cy="714058"/>
          </a:xfrm>
          <a:prstGeom prst="rect">
            <a:avLst/>
          </a:prstGeom>
          <a:solidFill>
            <a:srgbClr val="235CBB"/>
          </a:solidFill>
          <a:ln w="9525">
            <a:noFill/>
            <a:miter lim="800000"/>
            <a:headEnd/>
            <a:tailEnd/>
          </a:ln>
          <a:effectLst/>
        </p:spPr>
        <p:txBody>
          <a:bodyPr wrap="none" lIns="160020" tIns="80010" rIns="160020" bIns="80010" anchor="ct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lgn="ctr"/>
            <a:r>
              <a:rPr lang="en-US" altLang="zh-CN" sz="5400" b="1" dirty="0">
                <a:solidFill>
                  <a:schemeClr val="bg1"/>
                </a:solidFill>
                <a:latin typeface="Abadi" panose="020B0604020104020204" pitchFamily="34" charset="0"/>
                <a:ea typeface="Roboto" panose="02000000000000000000" pitchFamily="2" charset="0"/>
              </a:rPr>
              <a:t>Data Preparation</a:t>
            </a:r>
            <a:endParaRPr lang="en-US" altLang="en-US" sz="5400" b="1" dirty="0">
              <a:solidFill>
                <a:schemeClr val="bg1"/>
              </a:solidFill>
              <a:latin typeface="Abadi" panose="020B0604020104020204" pitchFamily="34" charset="0"/>
              <a:ea typeface="Roboto" panose="02000000000000000000" pitchFamily="2" charset="0"/>
            </a:endParaRPr>
          </a:p>
        </p:txBody>
      </p:sp>
      <p:pic>
        <p:nvPicPr>
          <p:cNvPr id="8" name="Graphic 7" descr="Badge 1 with solid fill">
            <a:extLst>
              <a:ext uri="{FF2B5EF4-FFF2-40B4-BE49-F238E27FC236}">
                <a16:creationId xmlns:a16="http://schemas.microsoft.com/office/drawing/2014/main" id="{75F6AFE6-1420-6302-0B40-EC1DE9BAB0B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32344" y="9938437"/>
            <a:ext cx="534136" cy="534136"/>
          </a:xfrm>
          <a:prstGeom prst="rect">
            <a:avLst/>
          </a:prstGeom>
        </p:spPr>
      </p:pic>
      <p:pic>
        <p:nvPicPr>
          <p:cNvPr id="13" name="Graphic 12" descr="Badge with solid fill">
            <a:extLst>
              <a:ext uri="{FF2B5EF4-FFF2-40B4-BE49-F238E27FC236}">
                <a16:creationId xmlns:a16="http://schemas.microsoft.com/office/drawing/2014/main" id="{EFE8623F-5278-79F0-6E80-2468A22AD87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2344" y="10639343"/>
            <a:ext cx="532800" cy="532800"/>
          </a:xfrm>
          <a:prstGeom prst="rect">
            <a:avLst/>
          </a:prstGeom>
        </p:spPr>
      </p:pic>
      <p:sp>
        <p:nvSpPr>
          <p:cNvPr id="68" name="TextBox 67">
            <a:extLst>
              <a:ext uri="{FF2B5EF4-FFF2-40B4-BE49-F238E27FC236}">
                <a16:creationId xmlns:a16="http://schemas.microsoft.com/office/drawing/2014/main" id="{62EA9E70-7AAA-530F-316D-8733C1408C6D}"/>
              </a:ext>
            </a:extLst>
          </p:cNvPr>
          <p:cNvSpPr txBox="1"/>
          <p:nvPr/>
        </p:nvSpPr>
        <p:spPr>
          <a:xfrm>
            <a:off x="11073789" y="28173165"/>
            <a:ext cx="9908098" cy="1200329"/>
          </a:xfrm>
          <a:prstGeom prst="rect">
            <a:avLst/>
          </a:prstGeom>
          <a:noFill/>
        </p:spPr>
        <p:txBody>
          <a:bodyPr wrap="square">
            <a:spAutoFit/>
          </a:bodyPr>
          <a:lstStyle/>
          <a:p>
            <a:pPr marL="342900" indent="-342900">
              <a:buFont typeface="Arial" panose="020B0604020202020204" pitchFamily="34" charset="0"/>
              <a:buChar char="•"/>
            </a:pPr>
            <a:r>
              <a:rPr lang="en-US" sz="2400" dirty="0">
                <a:latin typeface="Abadi" panose="020B0604020104020204" pitchFamily="34" charset="0"/>
              </a:rPr>
              <a:t>Investigate other social and economic factors influencing fertility, such as housing costs, career patterns, and childcare support.</a:t>
            </a:r>
          </a:p>
          <a:p>
            <a:pPr marL="342900" indent="-342900">
              <a:buFont typeface="Arial" panose="020B0604020202020204" pitchFamily="34" charset="0"/>
              <a:buChar char="•"/>
            </a:pPr>
            <a:r>
              <a:rPr lang="en-US" sz="2400" dirty="0">
                <a:latin typeface="Abadi" panose="020B0604020104020204" pitchFamily="34" charset="0"/>
              </a:rPr>
              <a:t>Extend analysis to forecasting modeling for population policy planning.</a:t>
            </a:r>
          </a:p>
        </p:txBody>
      </p:sp>
      <p:pic>
        <p:nvPicPr>
          <p:cNvPr id="3" name="Picture 2">
            <a:extLst>
              <a:ext uri="{FF2B5EF4-FFF2-40B4-BE49-F238E27FC236}">
                <a16:creationId xmlns:a16="http://schemas.microsoft.com/office/drawing/2014/main" id="{3154BE89-F4D5-5216-3D8E-3FCE161E30DE}"/>
              </a:ext>
            </a:extLst>
          </p:cNvPr>
          <p:cNvPicPr>
            <a:picLocks noChangeAspect="1"/>
          </p:cNvPicPr>
          <p:nvPr/>
        </p:nvPicPr>
        <p:blipFill>
          <a:blip r:embed="rId10"/>
          <a:stretch>
            <a:fillRect/>
          </a:stretch>
        </p:blipFill>
        <p:spPr>
          <a:xfrm>
            <a:off x="18329448" y="490729"/>
            <a:ext cx="2244403" cy="2244403"/>
          </a:xfrm>
          <a:prstGeom prst="rect">
            <a:avLst/>
          </a:prstGeom>
        </p:spPr>
      </p:pic>
      <p:graphicFrame>
        <p:nvGraphicFramePr>
          <p:cNvPr id="4" name="Table 3">
            <a:extLst>
              <a:ext uri="{FF2B5EF4-FFF2-40B4-BE49-F238E27FC236}">
                <a16:creationId xmlns:a16="http://schemas.microsoft.com/office/drawing/2014/main" id="{F5FE71D3-6C9A-5408-BEA9-09FC971DE3E2}"/>
              </a:ext>
            </a:extLst>
          </p:cNvPr>
          <p:cNvGraphicFramePr>
            <a:graphicFrameLocks noGrp="1"/>
          </p:cNvGraphicFramePr>
          <p:nvPr/>
        </p:nvGraphicFramePr>
        <p:xfrm>
          <a:off x="1307721" y="11181668"/>
          <a:ext cx="8951616" cy="2590800"/>
        </p:xfrm>
        <a:graphic>
          <a:graphicData uri="http://schemas.openxmlformats.org/drawingml/2006/table">
            <a:tbl>
              <a:tblPr firstRow="1" bandRow="1">
                <a:tableStyleId>{F5AB1C69-6EDB-4FF4-983F-18BD219EF322}</a:tableStyleId>
              </a:tblPr>
              <a:tblGrid>
                <a:gridCol w="702469">
                  <a:extLst>
                    <a:ext uri="{9D8B030D-6E8A-4147-A177-3AD203B41FA5}">
                      <a16:colId xmlns:a16="http://schemas.microsoft.com/office/drawing/2014/main" val="2417386287"/>
                    </a:ext>
                  </a:extLst>
                </a:gridCol>
                <a:gridCol w="8249147">
                  <a:extLst>
                    <a:ext uri="{9D8B030D-6E8A-4147-A177-3AD203B41FA5}">
                      <a16:colId xmlns:a16="http://schemas.microsoft.com/office/drawing/2014/main" val="2097894684"/>
                    </a:ext>
                  </a:extLst>
                </a:gridCol>
              </a:tblGrid>
              <a:tr h="370840">
                <a:tc>
                  <a:txBody>
                    <a:bodyPr/>
                    <a:lstStyle/>
                    <a:p>
                      <a:r>
                        <a:rPr lang="en-SG" sz="2000" dirty="0">
                          <a:latin typeface="Abadi" panose="020B0604020104020204" pitchFamily="34" charset="0"/>
                        </a:rPr>
                        <a:t>Step</a:t>
                      </a:r>
                    </a:p>
                  </a:txBody>
                  <a:tcPr/>
                </a:tc>
                <a:tc>
                  <a:txBody>
                    <a:bodyPr/>
                    <a:lstStyle/>
                    <a:p>
                      <a:r>
                        <a:rPr lang="en-SG" sz="2000" dirty="0">
                          <a:latin typeface="Abadi" panose="020B0604020104020204" pitchFamily="34" charset="0"/>
                        </a:rPr>
                        <a:t>Description</a:t>
                      </a:r>
                    </a:p>
                  </a:txBody>
                  <a:tcPr/>
                </a:tc>
                <a:extLst>
                  <a:ext uri="{0D108BD9-81ED-4DB2-BD59-A6C34878D82A}">
                    <a16:rowId xmlns:a16="http://schemas.microsoft.com/office/drawing/2014/main" val="3634383974"/>
                  </a:ext>
                </a:extLst>
              </a:tr>
              <a:tr h="370840">
                <a:tc>
                  <a:txBody>
                    <a:bodyPr/>
                    <a:lstStyle/>
                    <a:p>
                      <a:r>
                        <a:rPr lang="en-SG" sz="2000" dirty="0">
                          <a:latin typeface="Abadi" panose="020B0604020104020204" pitchFamily="34" charset="0"/>
                        </a:rPr>
                        <a:t>1</a:t>
                      </a:r>
                    </a:p>
                  </a:txBody>
                  <a:tcPr/>
                </a:tc>
                <a:tc>
                  <a:txBody>
                    <a:bodyPr/>
                    <a:lstStyle/>
                    <a:p>
                      <a:r>
                        <a:rPr lang="en-US" sz="2000" dirty="0">
                          <a:latin typeface="Abadi" panose="020B0604020104020204" pitchFamily="34" charset="0"/>
                        </a:rPr>
                        <a:t>Extract original series labels from first row and convert them into clean, standardized variable names</a:t>
                      </a:r>
                      <a:endParaRPr lang="en-SG" sz="2000" dirty="0">
                        <a:latin typeface="Abadi" panose="020B0604020104020204" pitchFamily="34" charset="0"/>
                      </a:endParaRPr>
                    </a:p>
                  </a:txBody>
                  <a:tcPr/>
                </a:tc>
                <a:extLst>
                  <a:ext uri="{0D108BD9-81ED-4DB2-BD59-A6C34878D82A}">
                    <a16:rowId xmlns:a16="http://schemas.microsoft.com/office/drawing/2014/main" val="3839468499"/>
                  </a:ext>
                </a:extLst>
              </a:tr>
              <a:tr h="370840">
                <a:tc>
                  <a:txBody>
                    <a:bodyPr/>
                    <a:lstStyle/>
                    <a:p>
                      <a:r>
                        <a:rPr lang="en-SG" sz="2000" dirty="0">
                          <a:latin typeface="Abadi" panose="020B0604020104020204" pitchFamily="34" charset="0"/>
                        </a:rPr>
                        <a:t>2</a:t>
                      </a:r>
                    </a:p>
                  </a:txBody>
                  <a:tcPr/>
                </a:tc>
                <a:tc>
                  <a:txBody>
                    <a:bodyPr/>
                    <a:lstStyle/>
                    <a:p>
                      <a:r>
                        <a:rPr lang="en-US" sz="2000" dirty="0">
                          <a:latin typeface="Abadi" panose="020B0604020104020204" pitchFamily="34" charset="0"/>
                        </a:rPr>
                        <a:t>Transform text values into numeric format and ensure one observation per year per series.</a:t>
                      </a:r>
                      <a:endParaRPr lang="en-SG" sz="2000" dirty="0">
                        <a:latin typeface="Abadi" panose="020B0604020104020204" pitchFamily="34" charset="0"/>
                      </a:endParaRPr>
                    </a:p>
                  </a:txBody>
                  <a:tcPr/>
                </a:tc>
                <a:extLst>
                  <a:ext uri="{0D108BD9-81ED-4DB2-BD59-A6C34878D82A}">
                    <a16:rowId xmlns:a16="http://schemas.microsoft.com/office/drawing/2014/main" val="2473749069"/>
                  </a:ext>
                </a:extLst>
              </a:tr>
              <a:tr h="370840">
                <a:tc>
                  <a:txBody>
                    <a:bodyPr/>
                    <a:lstStyle/>
                    <a:p>
                      <a:r>
                        <a:rPr lang="en-SG" sz="2000" dirty="0">
                          <a:latin typeface="Abadi" panose="020B0604020104020204" pitchFamily="34" charset="0"/>
                        </a:rPr>
                        <a:t>3</a:t>
                      </a:r>
                    </a:p>
                  </a:txBody>
                  <a:tcPr/>
                </a:tc>
                <a:tc>
                  <a:txBody>
                    <a:bodyPr/>
                    <a:lstStyle/>
                    <a:p>
                      <a:r>
                        <a:rPr lang="en-SG" sz="2000" dirty="0">
                          <a:latin typeface="Abadi" panose="020B0604020104020204" pitchFamily="34" charset="0"/>
                        </a:rPr>
                        <a:t>Extract series used in this study – fertility, marriage, divorce rates</a:t>
                      </a:r>
                    </a:p>
                  </a:txBody>
                  <a:tcPr/>
                </a:tc>
                <a:extLst>
                  <a:ext uri="{0D108BD9-81ED-4DB2-BD59-A6C34878D82A}">
                    <a16:rowId xmlns:a16="http://schemas.microsoft.com/office/drawing/2014/main" val="2155261633"/>
                  </a:ext>
                </a:extLst>
              </a:tr>
              <a:tr h="370840">
                <a:tc>
                  <a:txBody>
                    <a:bodyPr/>
                    <a:lstStyle/>
                    <a:p>
                      <a:r>
                        <a:rPr lang="en-SG" sz="2000" dirty="0">
                          <a:latin typeface="Abadi" panose="020B0604020104020204" pitchFamily="34" charset="0"/>
                        </a:rPr>
                        <a:t>4</a:t>
                      </a:r>
                    </a:p>
                  </a:txBody>
                  <a:tcPr/>
                </a:tc>
                <a:tc>
                  <a:txBody>
                    <a:bodyPr/>
                    <a:lstStyle/>
                    <a:p>
                      <a:r>
                        <a:rPr lang="en-US" sz="2000" dirty="0">
                          <a:latin typeface="Abadi" panose="020B0604020104020204" pitchFamily="34" charset="0"/>
                        </a:rPr>
                        <a:t>Combine selected series into a clean dataset</a:t>
                      </a:r>
                      <a:endParaRPr lang="en-SG" sz="2000" dirty="0">
                        <a:latin typeface="Abadi" panose="020B0604020104020204" pitchFamily="34" charset="0"/>
                      </a:endParaRPr>
                    </a:p>
                  </a:txBody>
                  <a:tcPr/>
                </a:tc>
                <a:extLst>
                  <a:ext uri="{0D108BD9-81ED-4DB2-BD59-A6C34878D82A}">
                    <a16:rowId xmlns:a16="http://schemas.microsoft.com/office/drawing/2014/main" val="3529600660"/>
                  </a:ext>
                </a:extLst>
              </a:tr>
            </a:tbl>
          </a:graphicData>
        </a:graphic>
      </p:graphicFrame>
      <p:sp>
        <p:nvSpPr>
          <p:cNvPr id="10" name="Text Box 25">
            <a:extLst>
              <a:ext uri="{FF2B5EF4-FFF2-40B4-BE49-F238E27FC236}">
                <a16:creationId xmlns:a16="http://schemas.microsoft.com/office/drawing/2014/main" id="{761F3738-FF3D-19A6-F2BE-811571DB0B4E}"/>
              </a:ext>
            </a:extLst>
          </p:cNvPr>
          <p:cNvSpPr txBox="1">
            <a:spLocks noChangeArrowheads="1"/>
          </p:cNvSpPr>
          <p:nvPr/>
        </p:nvSpPr>
        <p:spPr bwMode="auto">
          <a:xfrm flipH="1">
            <a:off x="1154535" y="14916886"/>
            <a:ext cx="91114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Singapore Fertility Rate Trend</a:t>
            </a:r>
            <a:endParaRPr lang="en-US" altLang="zh-TW" sz="2400" dirty="0">
              <a:latin typeface="Abadi" panose="020B0604020104020204" pitchFamily="34" charset="0"/>
              <a:ea typeface="Roboto" panose="02000000000000000000" pitchFamily="2" charset="0"/>
            </a:endParaRPr>
          </a:p>
        </p:txBody>
      </p:sp>
      <p:pic>
        <p:nvPicPr>
          <p:cNvPr id="11" name="Graphic 10" descr="Badge 1 with solid fill">
            <a:extLst>
              <a:ext uri="{FF2B5EF4-FFF2-40B4-BE49-F238E27FC236}">
                <a16:creationId xmlns:a16="http://schemas.microsoft.com/office/drawing/2014/main" id="{2E9475A4-698C-75F0-A81A-C427A6519A1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0399" y="14909429"/>
            <a:ext cx="534136" cy="534136"/>
          </a:xfrm>
          <a:prstGeom prst="rect">
            <a:avLst/>
          </a:prstGeom>
        </p:spPr>
      </p:pic>
      <p:pic>
        <p:nvPicPr>
          <p:cNvPr id="17" name="Picture 16">
            <a:extLst>
              <a:ext uri="{FF2B5EF4-FFF2-40B4-BE49-F238E27FC236}">
                <a16:creationId xmlns:a16="http://schemas.microsoft.com/office/drawing/2014/main" id="{BE9A59AB-81ED-210B-9283-E195E4E6874A}"/>
              </a:ext>
            </a:extLst>
          </p:cNvPr>
          <p:cNvPicPr>
            <a:picLocks noChangeAspect="1"/>
          </p:cNvPicPr>
          <p:nvPr/>
        </p:nvPicPr>
        <p:blipFill>
          <a:blip r:embed="rId11"/>
          <a:srcRect t="4726"/>
          <a:stretch>
            <a:fillRect/>
          </a:stretch>
        </p:blipFill>
        <p:spPr>
          <a:xfrm>
            <a:off x="522346" y="15443564"/>
            <a:ext cx="5255601" cy="3429351"/>
          </a:xfrm>
          <a:prstGeom prst="rect">
            <a:avLst/>
          </a:prstGeom>
        </p:spPr>
      </p:pic>
      <p:sp>
        <p:nvSpPr>
          <p:cNvPr id="18" name="Text Box 25">
            <a:extLst>
              <a:ext uri="{FF2B5EF4-FFF2-40B4-BE49-F238E27FC236}">
                <a16:creationId xmlns:a16="http://schemas.microsoft.com/office/drawing/2014/main" id="{D164C196-3D66-BCFE-F517-2E45E028E875}"/>
              </a:ext>
            </a:extLst>
          </p:cNvPr>
          <p:cNvSpPr txBox="1">
            <a:spLocks noChangeArrowheads="1"/>
          </p:cNvSpPr>
          <p:nvPr/>
        </p:nvSpPr>
        <p:spPr bwMode="auto">
          <a:xfrm flipH="1">
            <a:off x="6191600" y="21802990"/>
            <a:ext cx="4212455" cy="38549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latin typeface="Abadi" panose="020B0604020104020204" pitchFamily="34" charset="0"/>
                <a:ea typeface="Roboto" panose="02000000000000000000" pitchFamily="2" charset="0"/>
              </a:rPr>
              <a:t>Observation: </a:t>
            </a:r>
            <a:r>
              <a:rPr lang="en-US" altLang="zh-TW" sz="2400" dirty="0">
                <a:latin typeface="Abadi" panose="020B0604020104020204" pitchFamily="34" charset="0"/>
                <a:ea typeface="Roboto" panose="02000000000000000000" pitchFamily="2" charset="0"/>
              </a:rPr>
              <a:t>From 1980 onward, fertility and marriage rates generally decline, while divorce rates increase before stabilizing. These patterns suggest that changes in fertility may be linked to broader family-formation trends, although the chart does not imply causality.</a:t>
            </a:r>
          </a:p>
        </p:txBody>
      </p:sp>
      <p:pic>
        <p:nvPicPr>
          <p:cNvPr id="28" name="Graphic 27" descr="Badge with solid fill">
            <a:extLst>
              <a:ext uri="{FF2B5EF4-FFF2-40B4-BE49-F238E27FC236}">
                <a16:creationId xmlns:a16="http://schemas.microsoft.com/office/drawing/2014/main" id="{9AF8BA67-1A6F-F092-FADD-F7CC236C2F6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32344" y="21839856"/>
            <a:ext cx="532800" cy="532800"/>
          </a:xfrm>
          <a:prstGeom prst="rect">
            <a:avLst/>
          </a:prstGeom>
        </p:spPr>
      </p:pic>
      <p:pic>
        <p:nvPicPr>
          <p:cNvPr id="35" name="Picture 34">
            <a:extLst>
              <a:ext uri="{FF2B5EF4-FFF2-40B4-BE49-F238E27FC236}">
                <a16:creationId xmlns:a16="http://schemas.microsoft.com/office/drawing/2014/main" id="{12624A30-C29E-4FB1-C9DD-78D27412AB29}"/>
              </a:ext>
            </a:extLst>
          </p:cNvPr>
          <p:cNvPicPr>
            <a:picLocks noChangeAspect="1"/>
          </p:cNvPicPr>
          <p:nvPr/>
        </p:nvPicPr>
        <p:blipFill>
          <a:blip r:embed="rId12"/>
          <a:srcRect b="8639"/>
          <a:stretch>
            <a:fillRect/>
          </a:stretch>
        </p:blipFill>
        <p:spPr>
          <a:xfrm>
            <a:off x="5783529" y="15380507"/>
            <a:ext cx="4488080" cy="3492409"/>
          </a:xfrm>
          <a:prstGeom prst="rect">
            <a:avLst/>
          </a:prstGeom>
        </p:spPr>
      </p:pic>
      <p:pic>
        <p:nvPicPr>
          <p:cNvPr id="39" name="Picture 38">
            <a:extLst>
              <a:ext uri="{FF2B5EF4-FFF2-40B4-BE49-F238E27FC236}">
                <a16:creationId xmlns:a16="http://schemas.microsoft.com/office/drawing/2014/main" id="{54063AD6-C78F-DC1B-7670-A2692C2D3BF7}"/>
              </a:ext>
            </a:extLst>
          </p:cNvPr>
          <p:cNvPicPr>
            <a:picLocks noChangeAspect="1"/>
          </p:cNvPicPr>
          <p:nvPr/>
        </p:nvPicPr>
        <p:blipFill>
          <a:blip r:embed="rId3"/>
          <a:srcRect t="90980"/>
          <a:stretch>
            <a:fillRect/>
          </a:stretch>
        </p:blipFill>
        <p:spPr>
          <a:xfrm>
            <a:off x="594360" y="25393409"/>
            <a:ext cx="5611754" cy="453227"/>
          </a:xfrm>
          <a:prstGeom prst="rect">
            <a:avLst/>
          </a:prstGeom>
        </p:spPr>
      </p:pic>
      <p:pic>
        <p:nvPicPr>
          <p:cNvPr id="41" name="Picture 40">
            <a:extLst>
              <a:ext uri="{FF2B5EF4-FFF2-40B4-BE49-F238E27FC236}">
                <a16:creationId xmlns:a16="http://schemas.microsoft.com/office/drawing/2014/main" id="{CA6303EA-526B-C000-C3F4-B800E2FCD463}"/>
              </a:ext>
            </a:extLst>
          </p:cNvPr>
          <p:cNvPicPr>
            <a:picLocks noChangeAspect="1"/>
          </p:cNvPicPr>
          <p:nvPr/>
        </p:nvPicPr>
        <p:blipFill>
          <a:blip r:embed="rId3"/>
          <a:srcRect t="31417" b="37351"/>
          <a:stretch>
            <a:fillRect/>
          </a:stretch>
        </p:blipFill>
        <p:spPr>
          <a:xfrm>
            <a:off x="579846" y="23893228"/>
            <a:ext cx="5611754" cy="1569322"/>
          </a:xfrm>
          <a:prstGeom prst="rect">
            <a:avLst/>
          </a:prstGeom>
        </p:spPr>
      </p:pic>
      <p:sp>
        <p:nvSpPr>
          <p:cNvPr id="43" name="Text Box 25">
            <a:extLst>
              <a:ext uri="{FF2B5EF4-FFF2-40B4-BE49-F238E27FC236}">
                <a16:creationId xmlns:a16="http://schemas.microsoft.com/office/drawing/2014/main" id="{E0B36238-1DE3-75B9-F5CF-BF08C9A60945}"/>
              </a:ext>
            </a:extLst>
          </p:cNvPr>
          <p:cNvSpPr txBox="1">
            <a:spLocks noChangeArrowheads="1"/>
          </p:cNvSpPr>
          <p:nvPr/>
        </p:nvSpPr>
        <p:spPr bwMode="auto">
          <a:xfrm flipH="1">
            <a:off x="1192434" y="21796544"/>
            <a:ext cx="91114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Marriage and Divorce Trend</a:t>
            </a:r>
            <a:endParaRPr lang="en-US" altLang="zh-TW" sz="2400" dirty="0">
              <a:latin typeface="Abadi" panose="020B0604020104020204" pitchFamily="34" charset="0"/>
              <a:ea typeface="Roboto" panose="02000000000000000000" pitchFamily="2" charset="0"/>
            </a:endParaRPr>
          </a:p>
        </p:txBody>
      </p:sp>
      <p:sp>
        <p:nvSpPr>
          <p:cNvPr id="44" name="Text Box 25">
            <a:extLst>
              <a:ext uri="{FF2B5EF4-FFF2-40B4-BE49-F238E27FC236}">
                <a16:creationId xmlns:a16="http://schemas.microsoft.com/office/drawing/2014/main" id="{15870815-A912-B38A-F5F9-44876BA71CC8}"/>
              </a:ext>
            </a:extLst>
          </p:cNvPr>
          <p:cNvSpPr txBox="1">
            <a:spLocks noChangeArrowheads="1"/>
          </p:cNvSpPr>
          <p:nvPr/>
        </p:nvSpPr>
        <p:spPr bwMode="auto">
          <a:xfrm flipH="1">
            <a:off x="659633" y="18860743"/>
            <a:ext cx="9599703" cy="2900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latin typeface="Abadi" panose="020B0604020104020204" pitchFamily="34" charset="0"/>
                <a:ea typeface="Roboto" panose="02000000000000000000" pitchFamily="2" charset="0"/>
              </a:rPr>
              <a:t>Observation: </a:t>
            </a:r>
            <a:r>
              <a:rPr lang="en-US" altLang="zh-TW" sz="2400" dirty="0">
                <a:latin typeface="Abadi" panose="020B0604020104020204" pitchFamily="34" charset="0"/>
                <a:ea typeface="Roboto" panose="02000000000000000000" pitchFamily="2" charset="0"/>
              </a:rPr>
              <a:t>Fertility rate has declined steadily since the 1960s. In 2025, TFR reached a historic low of 0.87, meaning on average woman would have fewer than one child if current rates persisted. </a:t>
            </a:r>
          </a:p>
          <a:p>
            <a:pPr>
              <a:spcBef>
                <a:spcPts val="1200"/>
              </a:spcBef>
            </a:pPr>
            <a:r>
              <a:rPr lang="en-US" altLang="zh-TW" sz="2400" dirty="0">
                <a:latin typeface="Abadi" panose="020B0604020104020204" pitchFamily="34" charset="0"/>
                <a:ea typeface="Roboto" panose="02000000000000000000" pitchFamily="2" charset="0"/>
              </a:rPr>
              <a:t>Several fertility peaks coincide with Dragon years (1976, 1988, 2000, 2012) - higher birth rates. However, many peaks occur in non-Dragon years, suggesting that zodiac effects may contribute to some spikes but do not fully explain fertility fluctuations.</a:t>
            </a:r>
          </a:p>
        </p:txBody>
      </p:sp>
      <p:sp>
        <p:nvSpPr>
          <p:cNvPr id="46" name="Text Box 25">
            <a:extLst>
              <a:ext uri="{FF2B5EF4-FFF2-40B4-BE49-F238E27FC236}">
                <a16:creationId xmlns:a16="http://schemas.microsoft.com/office/drawing/2014/main" id="{DB47F5E0-4017-0C59-CF66-5EE60FEDD68C}"/>
              </a:ext>
            </a:extLst>
          </p:cNvPr>
          <p:cNvSpPr txBox="1">
            <a:spLocks noChangeArrowheads="1"/>
          </p:cNvSpPr>
          <p:nvPr/>
        </p:nvSpPr>
        <p:spPr bwMode="auto">
          <a:xfrm flipH="1">
            <a:off x="1154535" y="25935001"/>
            <a:ext cx="91114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Fertility Postponement</a:t>
            </a:r>
            <a:endParaRPr lang="en-US" altLang="zh-TW" sz="2400" dirty="0">
              <a:latin typeface="Abadi" panose="020B0604020104020204" pitchFamily="34" charset="0"/>
              <a:ea typeface="Roboto" panose="02000000000000000000" pitchFamily="2" charset="0"/>
            </a:endParaRPr>
          </a:p>
        </p:txBody>
      </p:sp>
      <p:pic>
        <p:nvPicPr>
          <p:cNvPr id="47" name="Graphic 46" descr="Badge 3 with solid fill">
            <a:extLst>
              <a:ext uri="{FF2B5EF4-FFF2-40B4-BE49-F238E27FC236}">
                <a16:creationId xmlns:a16="http://schemas.microsoft.com/office/drawing/2014/main" id="{C4CA72EB-54DB-A3BD-BCD5-2FDA5764E3D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9634" y="25926883"/>
            <a:ext cx="532800" cy="532800"/>
          </a:xfrm>
          <a:prstGeom prst="rect">
            <a:avLst/>
          </a:prstGeom>
        </p:spPr>
      </p:pic>
      <p:pic>
        <p:nvPicPr>
          <p:cNvPr id="49" name="Picture 48">
            <a:extLst>
              <a:ext uri="{FF2B5EF4-FFF2-40B4-BE49-F238E27FC236}">
                <a16:creationId xmlns:a16="http://schemas.microsoft.com/office/drawing/2014/main" id="{1DBE0CE4-50CD-EB62-0CA3-AD5700B81F04}"/>
              </a:ext>
            </a:extLst>
          </p:cNvPr>
          <p:cNvPicPr>
            <a:picLocks noChangeAspect="1"/>
          </p:cNvPicPr>
          <p:nvPr/>
        </p:nvPicPr>
        <p:blipFill>
          <a:blip r:embed="rId15"/>
          <a:stretch>
            <a:fillRect/>
          </a:stretch>
        </p:blipFill>
        <p:spPr>
          <a:xfrm>
            <a:off x="354015" y="26441678"/>
            <a:ext cx="5695570" cy="3156844"/>
          </a:xfrm>
          <a:prstGeom prst="rect">
            <a:avLst/>
          </a:prstGeom>
        </p:spPr>
      </p:pic>
      <p:sp>
        <p:nvSpPr>
          <p:cNvPr id="51" name="Text Box 25">
            <a:extLst>
              <a:ext uri="{FF2B5EF4-FFF2-40B4-BE49-F238E27FC236}">
                <a16:creationId xmlns:a16="http://schemas.microsoft.com/office/drawing/2014/main" id="{C87657D6-36B8-77E8-F5E1-4A9315FCFDF4}"/>
              </a:ext>
            </a:extLst>
          </p:cNvPr>
          <p:cNvSpPr txBox="1">
            <a:spLocks noChangeArrowheads="1"/>
          </p:cNvSpPr>
          <p:nvPr/>
        </p:nvSpPr>
        <p:spPr bwMode="auto">
          <a:xfrm flipH="1">
            <a:off x="6220383" y="25903974"/>
            <a:ext cx="4212455" cy="3485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latin typeface="Abadi" panose="020B0604020104020204" pitchFamily="34" charset="0"/>
                <a:ea typeface="Roboto" panose="02000000000000000000" pitchFamily="2" charset="0"/>
              </a:rPr>
              <a:t>Observation: </a:t>
            </a:r>
            <a:r>
              <a:rPr lang="en-US" altLang="zh-TW" sz="2400" dirty="0">
                <a:latin typeface="Abadi" panose="020B0604020104020204" pitchFamily="34" charset="0"/>
                <a:ea typeface="Roboto" panose="02000000000000000000" pitchFamily="2" charset="0"/>
              </a:rPr>
              <a:t>Over time, the share of births shifts from younger women (15–24) to older age groups (30–39). This indicates birth postponement, where childbearing increasingly occurs later in life despite declining overall fertility.</a:t>
            </a:r>
          </a:p>
        </p:txBody>
      </p:sp>
      <p:sp>
        <p:nvSpPr>
          <p:cNvPr id="53" name="Text Box 25">
            <a:extLst>
              <a:ext uri="{FF2B5EF4-FFF2-40B4-BE49-F238E27FC236}">
                <a16:creationId xmlns:a16="http://schemas.microsoft.com/office/drawing/2014/main" id="{D0C60FAF-97CB-514C-BF14-600DC8F04213}"/>
              </a:ext>
            </a:extLst>
          </p:cNvPr>
          <p:cNvSpPr txBox="1">
            <a:spLocks noChangeArrowheads="1"/>
          </p:cNvSpPr>
          <p:nvPr/>
        </p:nvSpPr>
        <p:spPr bwMode="auto">
          <a:xfrm flipH="1">
            <a:off x="11536751" y="6579837"/>
            <a:ext cx="91114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Cross Correlation Comparison Across Lags </a:t>
            </a:r>
            <a:endParaRPr lang="en-US" altLang="zh-TW" sz="2400" dirty="0">
              <a:latin typeface="Abadi" panose="020B0604020104020204" pitchFamily="34" charset="0"/>
              <a:ea typeface="Roboto" panose="02000000000000000000" pitchFamily="2" charset="0"/>
            </a:endParaRPr>
          </a:p>
        </p:txBody>
      </p:sp>
      <p:pic>
        <p:nvPicPr>
          <p:cNvPr id="54" name="Graphic 53" descr="Badge 1 with solid fill">
            <a:extLst>
              <a:ext uri="{FF2B5EF4-FFF2-40B4-BE49-F238E27FC236}">
                <a16:creationId xmlns:a16="http://schemas.microsoft.com/office/drawing/2014/main" id="{4A5BB0C2-BE56-D3B7-4A81-5035E96E39E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002615" y="6572380"/>
            <a:ext cx="534136" cy="534136"/>
          </a:xfrm>
          <a:prstGeom prst="rect">
            <a:avLst/>
          </a:prstGeom>
        </p:spPr>
      </p:pic>
      <p:sp>
        <p:nvSpPr>
          <p:cNvPr id="60" name="TextBox 59">
            <a:extLst>
              <a:ext uri="{FF2B5EF4-FFF2-40B4-BE49-F238E27FC236}">
                <a16:creationId xmlns:a16="http://schemas.microsoft.com/office/drawing/2014/main" id="{18EF0042-0931-1A33-C301-886FF084BE37}"/>
              </a:ext>
            </a:extLst>
          </p:cNvPr>
          <p:cNvSpPr txBox="1"/>
          <p:nvPr/>
        </p:nvSpPr>
        <p:spPr>
          <a:xfrm>
            <a:off x="11073789" y="10752860"/>
            <a:ext cx="9457070" cy="1569660"/>
          </a:xfrm>
          <a:prstGeom prst="rect">
            <a:avLst/>
          </a:prstGeom>
          <a:noFill/>
        </p:spPr>
        <p:txBody>
          <a:bodyPr wrap="square">
            <a:spAutoFit/>
          </a:bodyPr>
          <a:lstStyle/>
          <a:p>
            <a:r>
              <a:rPr lang="en-US" sz="2400" b="1" dirty="0">
                <a:latin typeface="Abadi" panose="020B0604020104020204" pitchFamily="34" charset="0"/>
              </a:rPr>
              <a:t>Observation: </a:t>
            </a:r>
            <a:r>
              <a:rPr lang="en-US" sz="2400" dirty="0">
                <a:latin typeface="Abadi" panose="020B0604020104020204" pitchFamily="34" charset="0"/>
              </a:rPr>
              <a:t>Both series show their strongest cross-correlation with TFR at lag 0. Marriage has a positive peak correlation of 0.878, while divorce has a negative peak correlation of -0.771, indicating opposite co-movement patterns with fertility.</a:t>
            </a:r>
            <a:endParaRPr lang="en-SG" sz="2400" dirty="0">
              <a:latin typeface="Abadi" panose="020B0604020104020204" pitchFamily="34" charset="0"/>
            </a:endParaRPr>
          </a:p>
        </p:txBody>
      </p:sp>
      <p:sp>
        <p:nvSpPr>
          <p:cNvPr id="73" name="TextBox 72">
            <a:extLst>
              <a:ext uri="{FF2B5EF4-FFF2-40B4-BE49-F238E27FC236}">
                <a16:creationId xmlns:a16="http://schemas.microsoft.com/office/drawing/2014/main" id="{6731836B-0285-9552-F698-89628861EEC5}"/>
              </a:ext>
            </a:extLst>
          </p:cNvPr>
          <p:cNvSpPr txBox="1"/>
          <p:nvPr/>
        </p:nvSpPr>
        <p:spPr>
          <a:xfrm>
            <a:off x="11027920" y="12478207"/>
            <a:ext cx="9804875" cy="1569660"/>
          </a:xfrm>
          <a:prstGeom prst="rect">
            <a:avLst/>
          </a:prstGeom>
          <a:noFill/>
        </p:spPr>
        <p:txBody>
          <a:bodyPr wrap="square">
            <a:spAutoFit/>
          </a:bodyPr>
          <a:lstStyle/>
          <a:p>
            <a:r>
              <a:rPr lang="en-US" sz="2400" b="1" dirty="0">
                <a:solidFill>
                  <a:srgbClr val="70B4FD"/>
                </a:solidFill>
                <a:latin typeface="Abadi" panose="020B0604020104020204" pitchFamily="34" charset="0"/>
              </a:rPr>
              <a:t>Cross correlation conclusion: </a:t>
            </a:r>
            <a:r>
              <a:rPr lang="en-US" sz="2400" dirty="0">
                <a:latin typeface="Abadi" panose="020B0604020104020204" pitchFamily="34" charset="0"/>
              </a:rPr>
              <a:t>This analysis highlights the timing and direction of the relationship, but not the size of the fertility effect. It is therefore used as an exploratory step to identify lag patterns before formal regression modelling.</a:t>
            </a:r>
            <a:endParaRPr lang="en-SG" sz="2400" dirty="0">
              <a:latin typeface="Abadi" panose="020B0604020104020204" pitchFamily="34" charset="0"/>
            </a:endParaRPr>
          </a:p>
        </p:txBody>
      </p:sp>
      <p:sp>
        <p:nvSpPr>
          <p:cNvPr id="74" name="Text Box 25">
            <a:extLst>
              <a:ext uri="{FF2B5EF4-FFF2-40B4-BE49-F238E27FC236}">
                <a16:creationId xmlns:a16="http://schemas.microsoft.com/office/drawing/2014/main" id="{D7EA74A3-A580-9037-370D-220AEDB88C36}"/>
              </a:ext>
            </a:extLst>
          </p:cNvPr>
          <p:cNvSpPr txBox="1">
            <a:spLocks noChangeArrowheads="1"/>
          </p:cNvSpPr>
          <p:nvPr/>
        </p:nvSpPr>
        <p:spPr bwMode="auto">
          <a:xfrm flipH="1">
            <a:off x="11794632" y="18688233"/>
            <a:ext cx="91114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60020" tIns="80010" rIns="160020" bIns="80010">
            <a:spAutoFit/>
          </a:bodyPr>
          <a:lstStyle>
            <a:lvl1pPr defTabSz="4389438">
              <a:defRPr>
                <a:solidFill>
                  <a:schemeClr val="tx1"/>
                </a:solidFill>
                <a:latin typeface="Arial" panose="020B0604020202020204" pitchFamily="34" charset="0"/>
              </a:defRPr>
            </a:lvl1pPr>
            <a:lvl2pPr marL="800100" defTabSz="4389438">
              <a:defRPr>
                <a:solidFill>
                  <a:schemeClr val="tx1"/>
                </a:solidFill>
                <a:latin typeface="Arial" panose="020B0604020202020204" pitchFamily="34" charset="0"/>
              </a:defRPr>
            </a:lvl2pPr>
            <a:lvl3pPr marL="1600200" defTabSz="4389438">
              <a:defRPr>
                <a:solidFill>
                  <a:schemeClr val="tx1"/>
                </a:solidFill>
                <a:latin typeface="Arial" panose="020B0604020202020204" pitchFamily="34" charset="0"/>
              </a:defRPr>
            </a:lvl3pPr>
            <a:lvl4pPr marL="2400300" defTabSz="4389438">
              <a:defRPr>
                <a:solidFill>
                  <a:schemeClr val="tx1"/>
                </a:solidFill>
                <a:latin typeface="Arial" panose="020B0604020202020204" pitchFamily="34" charset="0"/>
              </a:defRPr>
            </a:lvl4pPr>
            <a:lvl5pPr marL="3200400" defTabSz="4389438">
              <a:defRPr>
                <a:solidFill>
                  <a:schemeClr val="tx1"/>
                </a:solidFill>
                <a:latin typeface="Arial" panose="020B0604020202020204" pitchFamily="34" charset="0"/>
              </a:defRPr>
            </a:lvl5pPr>
            <a:lvl6pPr marL="3657600" defTabSz="4389438" fontAlgn="base">
              <a:spcBef>
                <a:spcPct val="0"/>
              </a:spcBef>
              <a:spcAft>
                <a:spcPct val="0"/>
              </a:spcAft>
              <a:defRPr>
                <a:solidFill>
                  <a:schemeClr val="tx1"/>
                </a:solidFill>
                <a:latin typeface="Arial" panose="020B0604020202020204" pitchFamily="34" charset="0"/>
              </a:defRPr>
            </a:lvl6pPr>
            <a:lvl7pPr marL="4114800" defTabSz="4389438" fontAlgn="base">
              <a:spcBef>
                <a:spcPct val="0"/>
              </a:spcBef>
              <a:spcAft>
                <a:spcPct val="0"/>
              </a:spcAft>
              <a:defRPr>
                <a:solidFill>
                  <a:schemeClr val="tx1"/>
                </a:solidFill>
                <a:latin typeface="Arial" panose="020B0604020202020204" pitchFamily="34" charset="0"/>
              </a:defRPr>
            </a:lvl7pPr>
            <a:lvl8pPr marL="4572000" defTabSz="4389438" fontAlgn="base">
              <a:spcBef>
                <a:spcPct val="0"/>
              </a:spcBef>
              <a:spcAft>
                <a:spcPct val="0"/>
              </a:spcAft>
              <a:defRPr>
                <a:solidFill>
                  <a:schemeClr val="tx1"/>
                </a:solidFill>
                <a:latin typeface="Arial" panose="020B0604020202020204" pitchFamily="34" charset="0"/>
              </a:defRPr>
            </a:lvl8pPr>
            <a:lvl9pPr marL="5029200" defTabSz="4389438" fontAlgn="base">
              <a:spcBef>
                <a:spcPct val="0"/>
              </a:spcBef>
              <a:spcAft>
                <a:spcPct val="0"/>
              </a:spcAft>
              <a:defRPr>
                <a:solidFill>
                  <a:schemeClr val="tx1"/>
                </a:solidFill>
                <a:latin typeface="Arial" panose="020B0604020202020204" pitchFamily="34" charset="0"/>
              </a:defRPr>
            </a:lvl9pPr>
          </a:lstStyle>
          <a:p>
            <a:pPr>
              <a:spcBef>
                <a:spcPts val="1200"/>
              </a:spcBef>
            </a:pPr>
            <a:r>
              <a:rPr lang="en-US" altLang="zh-TW" sz="2400" b="1" dirty="0">
                <a:solidFill>
                  <a:srgbClr val="70B4FD"/>
                </a:solidFill>
                <a:latin typeface="Abadi" panose="020B0604020104020204" pitchFamily="34" charset="0"/>
                <a:ea typeface="Roboto" panose="02000000000000000000" pitchFamily="2" charset="0"/>
              </a:rPr>
              <a:t>Coefficient comparison across Panel regression models</a:t>
            </a:r>
            <a:endParaRPr lang="en-US" altLang="zh-TW" sz="2400" dirty="0">
              <a:latin typeface="Abadi" panose="020B0604020104020204" pitchFamily="34" charset="0"/>
              <a:ea typeface="Roboto" panose="02000000000000000000" pitchFamily="2" charset="0"/>
            </a:endParaRPr>
          </a:p>
        </p:txBody>
      </p:sp>
      <p:pic>
        <p:nvPicPr>
          <p:cNvPr id="75" name="Graphic 74" descr="Badge 1 with solid fill">
            <a:extLst>
              <a:ext uri="{FF2B5EF4-FFF2-40B4-BE49-F238E27FC236}">
                <a16:creationId xmlns:a16="http://schemas.microsoft.com/office/drawing/2014/main" id="{2C074D09-8954-F4E2-AAED-07DEAD65109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260496" y="18680776"/>
            <a:ext cx="534136" cy="534136"/>
          </a:xfrm>
          <a:prstGeom prst="rect">
            <a:avLst/>
          </a:prstGeom>
        </p:spPr>
      </p:pic>
      <p:sp>
        <p:nvSpPr>
          <p:cNvPr id="99" name="TextBox 98">
            <a:extLst>
              <a:ext uri="{FF2B5EF4-FFF2-40B4-BE49-F238E27FC236}">
                <a16:creationId xmlns:a16="http://schemas.microsoft.com/office/drawing/2014/main" id="{A8876229-7C95-6712-EE1D-2345DED461E2}"/>
              </a:ext>
            </a:extLst>
          </p:cNvPr>
          <p:cNvSpPr txBox="1"/>
          <p:nvPr/>
        </p:nvSpPr>
        <p:spPr>
          <a:xfrm>
            <a:off x="11124488" y="25357636"/>
            <a:ext cx="9604266" cy="1938992"/>
          </a:xfrm>
          <a:prstGeom prst="rect">
            <a:avLst/>
          </a:prstGeom>
          <a:noFill/>
        </p:spPr>
        <p:txBody>
          <a:bodyPr wrap="square">
            <a:spAutoFit/>
          </a:bodyPr>
          <a:lstStyle/>
          <a:p>
            <a:r>
              <a:rPr lang="en-US" sz="2400" b="1" dirty="0">
                <a:solidFill>
                  <a:srgbClr val="70B4FD"/>
                </a:solidFill>
                <a:latin typeface="Abadi" panose="020B0604020104020204" pitchFamily="34" charset="0"/>
              </a:rPr>
              <a:t>Regression conclusion: </a:t>
            </a:r>
            <a:r>
              <a:rPr lang="en-US" sz="2400" dirty="0">
                <a:latin typeface="Abadi" panose="020B0604020104020204" pitchFamily="34" charset="0"/>
              </a:rPr>
              <a:t>Unlike cross-correlation, panel regression estimates the size and statistical significance of the relationship. The results suggest that marriage is the more consistent demographic indicator of fertility, while divorce shows a weaker and less stable association.</a:t>
            </a:r>
          </a:p>
        </p:txBody>
      </p:sp>
      <p:pic>
        <p:nvPicPr>
          <p:cNvPr id="9" name="Picture 8">
            <a:extLst>
              <a:ext uri="{FF2B5EF4-FFF2-40B4-BE49-F238E27FC236}">
                <a16:creationId xmlns:a16="http://schemas.microsoft.com/office/drawing/2014/main" id="{44809D09-5DB2-DA49-0410-F296A9C848D9}"/>
              </a:ext>
            </a:extLst>
          </p:cNvPr>
          <p:cNvPicPr>
            <a:picLocks noChangeAspect="1"/>
          </p:cNvPicPr>
          <p:nvPr/>
        </p:nvPicPr>
        <p:blipFill>
          <a:blip r:embed="rId16"/>
          <a:stretch>
            <a:fillRect/>
          </a:stretch>
        </p:blipFill>
        <p:spPr>
          <a:xfrm>
            <a:off x="11536750" y="7120440"/>
            <a:ext cx="8144621" cy="3314054"/>
          </a:xfrm>
          <a:prstGeom prst="rect">
            <a:avLst/>
          </a:prstGeom>
        </p:spPr>
      </p:pic>
      <p:sp>
        <p:nvSpPr>
          <p:cNvPr id="14" name="TextBox 13">
            <a:extLst>
              <a:ext uri="{FF2B5EF4-FFF2-40B4-BE49-F238E27FC236}">
                <a16:creationId xmlns:a16="http://schemas.microsoft.com/office/drawing/2014/main" id="{902EE57C-7D35-F5EE-2F10-8496FCA07BC6}"/>
              </a:ext>
            </a:extLst>
          </p:cNvPr>
          <p:cNvSpPr txBox="1"/>
          <p:nvPr/>
        </p:nvSpPr>
        <p:spPr>
          <a:xfrm>
            <a:off x="10857609" y="4876260"/>
            <a:ext cx="9898435" cy="1569660"/>
          </a:xfrm>
          <a:prstGeom prst="rect">
            <a:avLst/>
          </a:prstGeom>
          <a:noFill/>
        </p:spPr>
        <p:txBody>
          <a:bodyPr wrap="square">
            <a:spAutoFit/>
          </a:bodyPr>
          <a:lstStyle/>
          <a:p>
            <a:r>
              <a:rPr lang="en-US" sz="2400" b="1" dirty="0">
                <a:latin typeface="Abadi" panose="020B0604020104020204" pitchFamily="34" charset="0"/>
              </a:rPr>
              <a:t>Purpose: </a:t>
            </a:r>
            <a:r>
              <a:rPr lang="en-US" sz="2400" dirty="0">
                <a:latin typeface="Abadi" panose="020B0604020104020204" pitchFamily="34" charset="0"/>
              </a:rPr>
              <a:t>Examine the timing, direction, and strength of co-movement between TFR and demographic indicators across different lags. This helps identify potentially meaningful lag relationships for further regression analysis.</a:t>
            </a:r>
            <a:endParaRPr lang="en-SG" sz="2400" dirty="0">
              <a:latin typeface="Abadi" panose="020B0604020104020204" pitchFamily="34" charset="0"/>
            </a:endParaRPr>
          </a:p>
        </p:txBody>
      </p:sp>
      <p:pic>
        <p:nvPicPr>
          <p:cNvPr id="21" name="Picture 20">
            <a:extLst>
              <a:ext uri="{FF2B5EF4-FFF2-40B4-BE49-F238E27FC236}">
                <a16:creationId xmlns:a16="http://schemas.microsoft.com/office/drawing/2014/main" id="{5E46449C-4744-69CF-ABD7-664DAAF2B4CF}"/>
              </a:ext>
            </a:extLst>
          </p:cNvPr>
          <p:cNvPicPr>
            <a:picLocks noChangeAspect="1"/>
          </p:cNvPicPr>
          <p:nvPr/>
        </p:nvPicPr>
        <p:blipFill>
          <a:blip r:embed="rId17"/>
          <a:srcRect t="4776"/>
          <a:stretch>
            <a:fillRect/>
          </a:stretch>
        </p:blipFill>
        <p:spPr>
          <a:xfrm>
            <a:off x="12146234" y="19284086"/>
            <a:ext cx="7589031" cy="3359115"/>
          </a:xfrm>
          <a:prstGeom prst="rect">
            <a:avLst/>
          </a:prstGeom>
        </p:spPr>
      </p:pic>
      <p:sp>
        <p:nvSpPr>
          <p:cNvPr id="23" name="TextBox 22">
            <a:extLst>
              <a:ext uri="{FF2B5EF4-FFF2-40B4-BE49-F238E27FC236}">
                <a16:creationId xmlns:a16="http://schemas.microsoft.com/office/drawing/2014/main" id="{E94A0B5F-B86B-ED42-242C-2DCAFC2B8DF2}"/>
              </a:ext>
            </a:extLst>
          </p:cNvPr>
          <p:cNvSpPr txBox="1"/>
          <p:nvPr/>
        </p:nvSpPr>
        <p:spPr>
          <a:xfrm>
            <a:off x="11124488" y="22931009"/>
            <a:ext cx="9708307" cy="2308324"/>
          </a:xfrm>
          <a:prstGeom prst="rect">
            <a:avLst/>
          </a:prstGeom>
          <a:noFill/>
        </p:spPr>
        <p:txBody>
          <a:bodyPr wrap="square">
            <a:spAutoFit/>
          </a:bodyPr>
          <a:lstStyle/>
          <a:p>
            <a:r>
              <a:rPr lang="en-US" sz="2400" b="1" dirty="0">
                <a:latin typeface="Abadi" panose="020B0604020104020204" pitchFamily="34" charset="0"/>
              </a:rPr>
              <a:t>Observation: </a:t>
            </a:r>
            <a:r>
              <a:rPr lang="en-US" sz="2400" dirty="0">
                <a:latin typeface="Abadi" panose="020B0604020104020204" pitchFamily="34" charset="0"/>
              </a:rPr>
              <a:t>Marriage has a positive coefficient (5.19), suggesting that higher marriage rates are associated with higher fertility, although the evidence is only borderline significant (p = 0.050). Divorce has a very small and non-significant coefficient (0.44, p = 0.930). The Hausman test (p = 1.000) suggests that both panel models lead to a similar overall conclusion.</a:t>
            </a:r>
          </a:p>
        </p:txBody>
      </p:sp>
      <p:sp>
        <p:nvSpPr>
          <p:cNvPr id="24" name="TextBox 23">
            <a:extLst>
              <a:ext uri="{FF2B5EF4-FFF2-40B4-BE49-F238E27FC236}">
                <a16:creationId xmlns:a16="http://schemas.microsoft.com/office/drawing/2014/main" id="{6252C5E6-A5C9-412E-FDB9-EE7B1022ABF4}"/>
              </a:ext>
            </a:extLst>
          </p:cNvPr>
          <p:cNvSpPr txBox="1"/>
          <p:nvPr/>
        </p:nvSpPr>
        <p:spPr>
          <a:xfrm>
            <a:off x="10991533" y="14989226"/>
            <a:ext cx="9898435" cy="1569660"/>
          </a:xfrm>
          <a:prstGeom prst="rect">
            <a:avLst/>
          </a:prstGeom>
          <a:noFill/>
        </p:spPr>
        <p:txBody>
          <a:bodyPr wrap="square">
            <a:spAutoFit/>
          </a:bodyPr>
          <a:lstStyle/>
          <a:p>
            <a:r>
              <a:rPr lang="en-US" sz="2400" b="1" dirty="0">
                <a:latin typeface="Abadi" panose="020B0604020104020204" pitchFamily="34" charset="0"/>
              </a:rPr>
              <a:t>Purpose: </a:t>
            </a:r>
            <a:r>
              <a:rPr lang="en-US" sz="2400" dirty="0">
                <a:latin typeface="Abadi" panose="020B0604020104020204" pitchFamily="34" charset="0"/>
              </a:rPr>
              <a:t>Because the data vary across both age groups and years, panel regression is more appropriate than simple regression. Using the lag 0 finding from the cross-correlation analysis, this section formally tests the same-year relationship between fertility and the demographic indicators.</a:t>
            </a:r>
            <a:endParaRPr lang="en-SG" sz="2400" dirty="0">
              <a:latin typeface="Abadi" panose="020B0604020104020204" pitchFamily="34" charset="0"/>
            </a:endParaRPr>
          </a:p>
        </p:txBody>
      </p:sp>
      <p:sp>
        <p:nvSpPr>
          <p:cNvPr id="25" name="TextBox 24">
            <a:extLst>
              <a:ext uri="{FF2B5EF4-FFF2-40B4-BE49-F238E27FC236}">
                <a16:creationId xmlns:a16="http://schemas.microsoft.com/office/drawing/2014/main" id="{128A4CD2-48EE-3509-86B5-8430C1B359E5}"/>
              </a:ext>
            </a:extLst>
          </p:cNvPr>
          <p:cNvSpPr txBox="1"/>
          <p:nvPr/>
        </p:nvSpPr>
        <p:spPr>
          <a:xfrm>
            <a:off x="11073789" y="16639060"/>
            <a:ext cx="9654965" cy="1938992"/>
          </a:xfrm>
          <a:prstGeom prst="rect">
            <a:avLst/>
          </a:prstGeom>
          <a:noFill/>
        </p:spPr>
        <p:txBody>
          <a:bodyPr wrap="square">
            <a:spAutoFit/>
          </a:bodyPr>
          <a:lstStyle/>
          <a:p>
            <a:r>
              <a:rPr lang="en-US" sz="2400" b="1" dirty="0">
                <a:latin typeface="Abadi" panose="020B0604020104020204" pitchFamily="34" charset="0"/>
              </a:rPr>
              <a:t>2 models performed:</a:t>
            </a:r>
          </a:p>
          <a:p>
            <a:pPr marL="342900" indent="-342900">
              <a:buFont typeface="Arial" panose="020B0604020202020204" pitchFamily="34" charset="0"/>
              <a:buChar char="•"/>
            </a:pPr>
            <a:r>
              <a:rPr lang="en-US" sz="2400" b="1" dirty="0">
                <a:latin typeface="Abadi" panose="020B0604020104020204" pitchFamily="34" charset="0"/>
              </a:rPr>
              <a:t>Fixed effect model:</a:t>
            </a:r>
            <a:r>
              <a:rPr lang="en-US" sz="2400" dirty="0">
                <a:latin typeface="Abadi" panose="020B0604020104020204" pitchFamily="34" charset="0"/>
              </a:rPr>
              <a:t> Examines whether fertility changes within the same age group over time when marriage or divorce changes.</a:t>
            </a:r>
          </a:p>
          <a:p>
            <a:pPr marL="342900" indent="-342900">
              <a:buFont typeface="Arial" panose="020B0604020202020204" pitchFamily="34" charset="0"/>
              <a:buChar char="•"/>
            </a:pPr>
            <a:r>
              <a:rPr lang="en-US" sz="2400" b="1" dirty="0">
                <a:latin typeface="Abadi" panose="020B0604020104020204" pitchFamily="34" charset="0"/>
              </a:rPr>
              <a:t>Random-effects model:</a:t>
            </a:r>
            <a:r>
              <a:rPr lang="en-US" sz="2400" dirty="0">
                <a:latin typeface="Abadi" panose="020B0604020104020204" pitchFamily="34" charset="0"/>
              </a:rPr>
              <a:t> Uses both changes within age groups over time and differences across age groups.</a:t>
            </a:r>
            <a:endParaRPr lang="en-SG" sz="2400" dirty="0">
              <a:latin typeface="Abadi" panose="020B0604020104020204" pitchFamily="34" charset="0"/>
            </a:endParaRPr>
          </a:p>
        </p:txBody>
      </p:sp>
    </p:spTree>
    <p:extLst>
      <p:ext uri="{BB962C8B-B14F-4D97-AF65-F5344CB8AC3E}">
        <p14:creationId xmlns:p14="http://schemas.microsoft.com/office/powerpoint/2010/main" val="394684042"/>
      </p:ext>
    </p:extLst>
  </p:cSld>
  <p:clrMapOvr>
    <a:masterClrMapping/>
  </p:clrMapOvr>
</p:sld>
</file>

<file path=ppt/theme/theme1.xml><?xml version="1.0" encoding="utf-8"?>
<a:theme xmlns:a="http://schemas.openxmlformats.org/drawingml/2006/main" name="Office 佈景主題">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C17EF2DF4FC484B8258FED6EB908863" ma:contentTypeVersion="11" ma:contentTypeDescription="Create a new document." ma:contentTypeScope="" ma:versionID="b4cc818c78149d5311a1f17de6178a85">
  <xsd:schema xmlns:xsd="http://www.w3.org/2001/XMLSchema" xmlns:xs="http://www.w3.org/2001/XMLSchema" xmlns:p="http://schemas.microsoft.com/office/2006/metadata/properties" xmlns:ns2="7944e1ea-dc7d-4cba-9dce-151eba1e1ad7" xmlns:ns3="452c1bb1-f131-4b31-96d8-24f5935bdb44" targetNamespace="http://schemas.microsoft.com/office/2006/metadata/properties" ma:root="true" ma:fieldsID="d5c1e12a7e2fd892dcd03f78c3e98160" ns2:_="" ns3:_="">
    <xsd:import namespace="7944e1ea-dc7d-4cba-9dce-151eba1e1ad7"/>
    <xsd:import namespace="452c1bb1-f131-4b31-96d8-24f5935bdb4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944e1ea-dc7d-4cba-9dce-151eba1e1ad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52c1bb1-f131-4b31-96d8-24f5935bdb44"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7740dc3-6827-454a-a5af-5421b5f73182}" ma:internalName="TaxCatchAll" ma:showField="CatchAllData" ma:web="452c1bb1-f131-4b31-96d8-24f5935bdb4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452c1bb1-f131-4b31-96d8-24f5935bdb44" xsi:nil="true"/>
    <lcf76f155ced4ddcb4097134ff3c332f xmlns="7944e1ea-dc7d-4cba-9dce-151eba1e1ad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C2139EC2-9F62-4D5D-960F-4E1D388C0897}">
  <ds:schemaRefs>
    <ds:schemaRef ds:uri="http://schemas.microsoft.com/sharepoint/v3/contenttype/forms"/>
  </ds:schemaRefs>
</ds:datastoreItem>
</file>

<file path=customXml/itemProps2.xml><?xml version="1.0" encoding="utf-8"?>
<ds:datastoreItem xmlns:ds="http://schemas.openxmlformats.org/officeDocument/2006/customXml" ds:itemID="{4E7BBFE8-9E5D-4591-A509-99363114307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944e1ea-dc7d-4cba-9dce-151eba1e1ad7"/>
    <ds:schemaRef ds:uri="452c1bb1-f131-4b31-96d8-24f5935bdb4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5D6D9C2-0490-428C-BDF7-06AFC4BF7B76}">
  <ds:schemaRefs>
    <ds:schemaRef ds:uri="http://schemas.microsoft.com/office/2006/documentManagement/types"/>
    <ds:schemaRef ds:uri="http://schemas.microsoft.com/office/2006/metadata/properties"/>
    <ds:schemaRef ds:uri="http://purl.org/dc/elements/1.1/"/>
    <ds:schemaRef ds:uri="http://www.w3.org/XML/1998/namespace"/>
    <ds:schemaRef ds:uri="http://schemas.microsoft.com/office/infopath/2007/PartnerControls"/>
    <ds:schemaRef ds:uri="http://schemas.openxmlformats.org/package/2006/metadata/core-properties"/>
    <ds:schemaRef ds:uri="7944e1ea-dc7d-4cba-9dce-151eba1e1ad7"/>
    <ds:schemaRef ds:uri="http://purl.org/dc/dcmitype/"/>
    <ds:schemaRef ds:uri="http://purl.org/dc/terms/"/>
    <ds:schemaRef ds:uri="452c1bb1-f131-4b31-96d8-24f5935bdb44"/>
  </ds:schemaRefs>
</ds:datastoreItem>
</file>

<file path=docProps/app.xml><?xml version="1.0" encoding="utf-8"?>
<Properties xmlns="http://schemas.openxmlformats.org/officeDocument/2006/extended-properties" xmlns:vt="http://schemas.openxmlformats.org/officeDocument/2006/docPropsVTypes">
  <Template>Office Theme</Template>
  <TotalTime>132</TotalTime>
  <Words>1578</Words>
  <Application>Microsoft Office PowerPoint</Application>
  <PresentationFormat>Custom</PresentationFormat>
  <Paragraphs>103</Paragraphs>
  <Slides>2</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Abadi</vt:lpstr>
      <vt:lpstr>Arial</vt:lpstr>
      <vt:lpstr>Calibri</vt:lpstr>
      <vt:lpstr>Calibri Light</vt:lpstr>
      <vt:lpstr>Roboto</vt:lpstr>
      <vt:lpstr>Office 佈景主題</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cp:lastModifiedBy>TEONG Sze Ching</cp:lastModifiedBy>
  <cp:revision>72</cp:revision>
  <dcterms:created xsi:type="dcterms:W3CDTF">2022-04-09T08:32:59Z</dcterms:created>
  <dcterms:modified xsi:type="dcterms:W3CDTF">2026-03-21T09:51:36Z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0x010100EC17EF2DF4FC484B8258FED6EB908863</vt:lpwstr>
  </property>
</Properties>
</file>