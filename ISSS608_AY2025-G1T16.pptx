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4"/>
  </p:sldMasterIdLst>
  <p:notesMasterIdLst>
    <p:notesMasterId r:id="rId6"/>
  </p:notesMasterIdLst>
  <p:sldIdLst>
    <p:sldId id="1175" r:id="rId5"/>
  </p:sldIdLst>
  <p:sldSz cx="2138838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776" userDrawn="1">
          <p15:clr>
            <a:srgbClr val="A4A3A4"/>
          </p15:clr>
        </p15:guide>
        <p15:guide id="2" pos="67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AF6"/>
    <a:srgbClr val="235CBC"/>
    <a:srgbClr val="235CBB"/>
    <a:srgbClr val="70B4FD"/>
    <a:srgbClr val="52D0C7"/>
    <a:srgbClr val="008F00"/>
    <a:srgbClr val="FF40FF"/>
    <a:srgbClr val="31B3E8"/>
    <a:srgbClr val="2E8FAB"/>
    <a:srgbClr val="3FB5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02"/>
    <p:restoredTop sz="94779"/>
  </p:normalViewPr>
  <p:slideViewPr>
    <p:cSldViewPr snapToGrid="0">
      <p:cViewPr varScale="1">
        <p:scale>
          <a:sx n="46" d="100"/>
          <a:sy n="46" d="100"/>
        </p:scale>
        <p:origin x="1584" y="256"/>
      </p:cViewPr>
      <p:guideLst>
        <p:guide orient="horz" pos="12776"/>
        <p:guide pos="67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EC1A36-2279-0B42-A036-2A7F66850110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FFCDE0-F5D5-B54D-83E1-08C9CC72E67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2890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926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853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779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706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9632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9558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9485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9411" algn="l" defTabSz="2479853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129" y="4954765"/>
            <a:ext cx="18180130" cy="10540259"/>
          </a:xfrm>
        </p:spPr>
        <p:txBody>
          <a:bodyPr anchor="b"/>
          <a:lstStyle>
            <a:lvl1pPr algn="ctr">
              <a:defRPr sz="1403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3549" y="15901497"/>
            <a:ext cx="16041291" cy="7309499"/>
          </a:xfrm>
        </p:spPr>
        <p:txBody>
          <a:bodyPr/>
          <a:lstStyle>
            <a:lvl1pPr marL="0" indent="0" algn="ctr">
              <a:buNone/>
              <a:defRPr sz="5614"/>
            </a:lvl1pPr>
            <a:lvl2pPr marL="1069437" indent="0" algn="ctr">
              <a:buNone/>
              <a:defRPr sz="4678"/>
            </a:lvl2pPr>
            <a:lvl3pPr marL="2138873" indent="0" algn="ctr">
              <a:buNone/>
              <a:defRPr sz="4210"/>
            </a:lvl3pPr>
            <a:lvl4pPr marL="3208310" indent="0" algn="ctr">
              <a:buNone/>
              <a:defRPr sz="3743"/>
            </a:lvl4pPr>
            <a:lvl5pPr marL="4277746" indent="0" algn="ctr">
              <a:buNone/>
              <a:defRPr sz="3743"/>
            </a:lvl5pPr>
            <a:lvl6pPr marL="5347183" indent="0" algn="ctr">
              <a:buNone/>
              <a:defRPr sz="3743"/>
            </a:lvl6pPr>
            <a:lvl7pPr marL="6416619" indent="0" algn="ctr">
              <a:buNone/>
              <a:defRPr sz="3743"/>
            </a:lvl7pPr>
            <a:lvl8pPr marL="7486056" indent="0" algn="ctr">
              <a:buNone/>
              <a:defRPr sz="3743"/>
            </a:lvl8pPr>
            <a:lvl9pPr marL="8555492" indent="0" algn="ctr">
              <a:buNone/>
              <a:defRPr sz="374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9388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8831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9313" y="7547788"/>
            <a:ext cx="18447485" cy="12593645"/>
          </a:xfrm>
        </p:spPr>
        <p:txBody>
          <a:bodyPr anchor="b"/>
          <a:lstStyle>
            <a:lvl1pPr>
              <a:defRPr sz="1403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9313" y="20260574"/>
            <a:ext cx="18447485" cy="6622701"/>
          </a:xfrm>
        </p:spPr>
        <p:txBody>
          <a:bodyPr/>
          <a:lstStyle>
            <a:lvl1pPr marL="0" indent="0">
              <a:buNone/>
              <a:defRPr sz="5614">
                <a:solidFill>
                  <a:schemeClr val="tx1"/>
                </a:solidFill>
              </a:defRPr>
            </a:lvl1pPr>
            <a:lvl2pPr marL="1069437" indent="0">
              <a:buNone/>
              <a:defRPr sz="4678">
                <a:solidFill>
                  <a:schemeClr val="tx1">
                    <a:tint val="75000"/>
                  </a:schemeClr>
                </a:solidFill>
              </a:defRPr>
            </a:lvl2pPr>
            <a:lvl3pPr marL="2138873" indent="0">
              <a:buNone/>
              <a:defRPr sz="4210">
                <a:solidFill>
                  <a:schemeClr val="tx1">
                    <a:tint val="75000"/>
                  </a:schemeClr>
                </a:solidFill>
              </a:defRPr>
            </a:lvl3pPr>
            <a:lvl4pPr marL="3208310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4pPr>
            <a:lvl5pPr marL="4277746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5pPr>
            <a:lvl6pPr marL="5347183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6pPr>
            <a:lvl7pPr marL="6416619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7pPr>
            <a:lvl8pPr marL="7486056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8pPr>
            <a:lvl9pPr marL="8555492" indent="0">
              <a:buNone/>
              <a:defRPr sz="374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50508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452" y="8059374"/>
            <a:ext cx="9090065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7871" y="8059374"/>
            <a:ext cx="9090065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6730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237" y="1611882"/>
            <a:ext cx="18447485" cy="58518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240" y="7421634"/>
            <a:ext cx="9048289" cy="3637228"/>
          </a:xfrm>
        </p:spPr>
        <p:txBody>
          <a:bodyPr anchor="b"/>
          <a:lstStyle>
            <a:lvl1pPr marL="0" indent="0">
              <a:buNone/>
              <a:defRPr sz="5614" b="1"/>
            </a:lvl1pPr>
            <a:lvl2pPr marL="1069437" indent="0">
              <a:buNone/>
              <a:defRPr sz="4678" b="1"/>
            </a:lvl2pPr>
            <a:lvl3pPr marL="2138873" indent="0">
              <a:buNone/>
              <a:defRPr sz="4210" b="1"/>
            </a:lvl3pPr>
            <a:lvl4pPr marL="3208310" indent="0">
              <a:buNone/>
              <a:defRPr sz="3743" b="1"/>
            </a:lvl4pPr>
            <a:lvl5pPr marL="4277746" indent="0">
              <a:buNone/>
              <a:defRPr sz="3743" b="1"/>
            </a:lvl5pPr>
            <a:lvl6pPr marL="5347183" indent="0">
              <a:buNone/>
              <a:defRPr sz="3743" b="1"/>
            </a:lvl6pPr>
            <a:lvl7pPr marL="6416619" indent="0">
              <a:buNone/>
              <a:defRPr sz="3743" b="1"/>
            </a:lvl7pPr>
            <a:lvl8pPr marL="7486056" indent="0">
              <a:buNone/>
              <a:defRPr sz="3743" b="1"/>
            </a:lvl8pPr>
            <a:lvl9pPr marL="8555492" indent="0">
              <a:buNone/>
              <a:defRPr sz="374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3240" y="11058863"/>
            <a:ext cx="9048289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7872" y="7421634"/>
            <a:ext cx="9092851" cy="3637228"/>
          </a:xfrm>
        </p:spPr>
        <p:txBody>
          <a:bodyPr anchor="b"/>
          <a:lstStyle>
            <a:lvl1pPr marL="0" indent="0">
              <a:buNone/>
              <a:defRPr sz="5614" b="1"/>
            </a:lvl1pPr>
            <a:lvl2pPr marL="1069437" indent="0">
              <a:buNone/>
              <a:defRPr sz="4678" b="1"/>
            </a:lvl2pPr>
            <a:lvl3pPr marL="2138873" indent="0">
              <a:buNone/>
              <a:defRPr sz="4210" b="1"/>
            </a:lvl3pPr>
            <a:lvl4pPr marL="3208310" indent="0">
              <a:buNone/>
              <a:defRPr sz="3743" b="1"/>
            </a:lvl4pPr>
            <a:lvl5pPr marL="4277746" indent="0">
              <a:buNone/>
              <a:defRPr sz="3743" b="1"/>
            </a:lvl5pPr>
            <a:lvl6pPr marL="5347183" indent="0">
              <a:buNone/>
              <a:defRPr sz="3743" b="1"/>
            </a:lvl6pPr>
            <a:lvl7pPr marL="6416619" indent="0">
              <a:buNone/>
              <a:defRPr sz="3743" b="1"/>
            </a:lvl7pPr>
            <a:lvl8pPr marL="7486056" indent="0">
              <a:buNone/>
              <a:defRPr sz="3743" b="1"/>
            </a:lvl8pPr>
            <a:lvl9pPr marL="8555492" indent="0">
              <a:buNone/>
              <a:defRPr sz="374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7872" y="11058863"/>
            <a:ext cx="9092851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266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71015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21533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237" y="2018348"/>
            <a:ext cx="6898312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2851" y="4359077"/>
            <a:ext cx="10827871" cy="21515024"/>
          </a:xfrm>
        </p:spPr>
        <p:txBody>
          <a:bodyPr/>
          <a:lstStyle>
            <a:lvl1pPr>
              <a:defRPr sz="7485"/>
            </a:lvl1pPr>
            <a:lvl2pPr>
              <a:defRPr sz="6549"/>
            </a:lvl2pPr>
            <a:lvl3pPr>
              <a:defRPr sz="5614"/>
            </a:lvl3pPr>
            <a:lvl4pPr>
              <a:defRPr sz="4678"/>
            </a:lvl4pPr>
            <a:lvl5pPr>
              <a:defRPr sz="4678"/>
            </a:lvl5pPr>
            <a:lvl6pPr>
              <a:defRPr sz="4678"/>
            </a:lvl6pPr>
            <a:lvl7pPr>
              <a:defRPr sz="4678"/>
            </a:lvl7pPr>
            <a:lvl8pPr>
              <a:defRPr sz="4678"/>
            </a:lvl8pPr>
            <a:lvl9pPr>
              <a:defRPr sz="46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237" y="9082564"/>
            <a:ext cx="6898312" cy="16826573"/>
          </a:xfrm>
        </p:spPr>
        <p:txBody>
          <a:bodyPr/>
          <a:lstStyle>
            <a:lvl1pPr marL="0" indent="0">
              <a:buNone/>
              <a:defRPr sz="3743"/>
            </a:lvl1pPr>
            <a:lvl2pPr marL="1069437" indent="0">
              <a:buNone/>
              <a:defRPr sz="3275"/>
            </a:lvl2pPr>
            <a:lvl3pPr marL="2138873" indent="0">
              <a:buNone/>
              <a:defRPr sz="2807"/>
            </a:lvl3pPr>
            <a:lvl4pPr marL="3208310" indent="0">
              <a:buNone/>
              <a:defRPr sz="2339"/>
            </a:lvl4pPr>
            <a:lvl5pPr marL="4277746" indent="0">
              <a:buNone/>
              <a:defRPr sz="2339"/>
            </a:lvl5pPr>
            <a:lvl6pPr marL="5347183" indent="0">
              <a:buNone/>
              <a:defRPr sz="2339"/>
            </a:lvl6pPr>
            <a:lvl7pPr marL="6416619" indent="0">
              <a:buNone/>
              <a:defRPr sz="2339"/>
            </a:lvl7pPr>
            <a:lvl8pPr marL="7486056" indent="0">
              <a:buNone/>
              <a:defRPr sz="2339"/>
            </a:lvl8pPr>
            <a:lvl9pPr marL="8555492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372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237" y="2018348"/>
            <a:ext cx="6898312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2851" y="4359077"/>
            <a:ext cx="10827871" cy="21515024"/>
          </a:xfrm>
        </p:spPr>
        <p:txBody>
          <a:bodyPr anchor="t"/>
          <a:lstStyle>
            <a:lvl1pPr marL="0" indent="0">
              <a:buNone/>
              <a:defRPr sz="7485"/>
            </a:lvl1pPr>
            <a:lvl2pPr marL="1069437" indent="0">
              <a:buNone/>
              <a:defRPr sz="6549"/>
            </a:lvl2pPr>
            <a:lvl3pPr marL="2138873" indent="0">
              <a:buNone/>
              <a:defRPr sz="5614"/>
            </a:lvl3pPr>
            <a:lvl4pPr marL="3208310" indent="0">
              <a:buNone/>
              <a:defRPr sz="4678"/>
            </a:lvl4pPr>
            <a:lvl5pPr marL="4277746" indent="0">
              <a:buNone/>
              <a:defRPr sz="4678"/>
            </a:lvl5pPr>
            <a:lvl6pPr marL="5347183" indent="0">
              <a:buNone/>
              <a:defRPr sz="4678"/>
            </a:lvl6pPr>
            <a:lvl7pPr marL="6416619" indent="0">
              <a:buNone/>
              <a:defRPr sz="4678"/>
            </a:lvl7pPr>
            <a:lvl8pPr marL="7486056" indent="0">
              <a:buNone/>
              <a:defRPr sz="4678"/>
            </a:lvl8pPr>
            <a:lvl9pPr marL="8555492" indent="0">
              <a:buNone/>
              <a:defRPr sz="4678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237" y="9082564"/>
            <a:ext cx="6898312" cy="16826573"/>
          </a:xfrm>
        </p:spPr>
        <p:txBody>
          <a:bodyPr/>
          <a:lstStyle>
            <a:lvl1pPr marL="0" indent="0">
              <a:buNone/>
              <a:defRPr sz="3743"/>
            </a:lvl1pPr>
            <a:lvl2pPr marL="1069437" indent="0">
              <a:buNone/>
              <a:defRPr sz="3275"/>
            </a:lvl2pPr>
            <a:lvl3pPr marL="2138873" indent="0">
              <a:buNone/>
              <a:defRPr sz="2807"/>
            </a:lvl3pPr>
            <a:lvl4pPr marL="3208310" indent="0">
              <a:buNone/>
              <a:defRPr sz="2339"/>
            </a:lvl4pPr>
            <a:lvl5pPr marL="4277746" indent="0">
              <a:buNone/>
              <a:defRPr sz="2339"/>
            </a:lvl5pPr>
            <a:lvl6pPr marL="5347183" indent="0">
              <a:buNone/>
              <a:defRPr sz="2339"/>
            </a:lvl6pPr>
            <a:lvl7pPr marL="6416619" indent="0">
              <a:buNone/>
              <a:defRPr sz="2339"/>
            </a:lvl7pPr>
            <a:lvl8pPr marL="7486056" indent="0">
              <a:buNone/>
              <a:defRPr sz="2339"/>
            </a:lvl8pPr>
            <a:lvl9pPr marL="8555492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2995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2152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6066" y="1611875"/>
            <a:ext cx="4611871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453" y="1611875"/>
            <a:ext cx="13568259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21746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_P000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91185" y="3978173"/>
            <a:ext cx="19574124" cy="1019800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ctr">
              <a:buNone/>
              <a:defRPr sz="2807" b="0" baseline="0">
                <a:solidFill>
                  <a:schemeClr val="bg1">
                    <a:lumMod val="65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1069369" indent="0">
              <a:buNone/>
              <a:defRPr sz="2807"/>
            </a:lvl2pPr>
            <a:lvl3pPr marL="2138736" indent="0">
              <a:buNone/>
              <a:defRPr sz="2338"/>
            </a:lvl3pPr>
            <a:lvl4pPr marL="3208104" indent="0">
              <a:buNone/>
              <a:defRPr sz="2105"/>
            </a:lvl4pPr>
            <a:lvl5pPr marL="4277471" indent="0">
              <a:buNone/>
              <a:defRPr sz="2105"/>
            </a:lvl5pPr>
            <a:lvl6pPr marL="5346840" indent="0">
              <a:buNone/>
              <a:defRPr sz="2105"/>
            </a:lvl6pPr>
            <a:lvl7pPr marL="6416207" indent="0">
              <a:buNone/>
              <a:defRPr sz="2105"/>
            </a:lvl7pPr>
            <a:lvl8pPr marL="7485575" indent="0">
              <a:buNone/>
              <a:defRPr sz="2105"/>
            </a:lvl8pPr>
            <a:lvl9pPr marL="8554944" indent="0">
              <a:buNone/>
              <a:defRPr sz="2105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891185" y="784920"/>
            <a:ext cx="19574124" cy="2915881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defRPr sz="654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8475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452" y="1611882"/>
            <a:ext cx="18447485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452" y="8059374"/>
            <a:ext cx="18447485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452" y="28060644"/>
            <a:ext cx="481238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A9931D-5C47-D347-BE90-B26453E539BE}" type="datetimeFigureOut">
              <a:rPr kumimoji="1" lang="zh-TW" altLang="en-US" smtClean="0"/>
              <a:t>2026/3/14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4904" y="28060644"/>
            <a:ext cx="721858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5549" y="28060644"/>
            <a:ext cx="481238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F1CBBC-053A-A240-92DB-658347C973C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4979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2138873" rtl="0" eaLnBrk="1" latinLnBrk="0" hangingPunct="1">
        <a:lnSpc>
          <a:spcPct val="90000"/>
        </a:lnSpc>
        <a:spcBef>
          <a:spcPct val="0"/>
        </a:spcBef>
        <a:buNone/>
        <a:defRPr sz="10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718" indent="-534718" algn="l" defTabSz="2138873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9" kern="1200">
          <a:solidFill>
            <a:schemeClr val="tx1"/>
          </a:solidFill>
          <a:latin typeface="+mn-lt"/>
          <a:ea typeface="+mn-ea"/>
          <a:cs typeface="+mn-cs"/>
        </a:defRPr>
      </a:lvl1pPr>
      <a:lvl2pPr marL="1604155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5614" kern="1200">
          <a:solidFill>
            <a:schemeClr val="tx1"/>
          </a:solidFill>
          <a:latin typeface="+mn-lt"/>
          <a:ea typeface="+mn-ea"/>
          <a:cs typeface="+mn-cs"/>
        </a:defRPr>
      </a:lvl2pPr>
      <a:lvl3pPr marL="2673591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678" kern="1200">
          <a:solidFill>
            <a:schemeClr val="tx1"/>
          </a:solidFill>
          <a:latin typeface="+mn-lt"/>
          <a:ea typeface="+mn-ea"/>
          <a:cs typeface="+mn-cs"/>
        </a:defRPr>
      </a:lvl3pPr>
      <a:lvl4pPr marL="3743028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812464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881901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951337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8020774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9090210" indent="-534718" algn="l" defTabSz="2138873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sz="42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1pPr>
      <a:lvl2pPr marL="1069437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2pPr>
      <a:lvl3pPr marL="2138873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3pPr>
      <a:lvl4pPr marL="3208310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277746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347183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416619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7486056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8555492" algn="l" defTabSz="2138873" rtl="0" eaLnBrk="1" latinLnBrk="0" hangingPunct="1">
        <a:defRPr sz="4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4">
            <a:extLst>
              <a:ext uri="{FF2B5EF4-FFF2-40B4-BE49-F238E27FC236}">
                <a16:creationId xmlns:a16="http://schemas.microsoft.com/office/drawing/2014/main" id="{403DD6F0-6EBC-E54F-E2F3-327D315ED92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0" y="0"/>
            <a:ext cx="21390769" cy="3011011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zh-CN" sz="7200" b="1" dirty="0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Singapore Fertility Trends: </a:t>
            </a:r>
          </a:p>
          <a:p>
            <a:pPr algn="ctr"/>
            <a:r>
              <a:rPr lang="en-US" altLang="zh-CN" sz="7200" b="1" dirty="0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A Visual Analytics Study</a:t>
            </a:r>
          </a:p>
        </p:txBody>
      </p:sp>
      <p:sp>
        <p:nvSpPr>
          <p:cNvPr id="22" name="Rectangle 5">
            <a:extLst>
              <a:ext uri="{FF2B5EF4-FFF2-40B4-BE49-F238E27FC236}">
                <a16:creationId xmlns:a16="http://schemas.microsoft.com/office/drawing/2014/main" id="{C0FE826A-D882-AE47-059B-B37A940A988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-2" y="29290161"/>
            <a:ext cx="17325475" cy="1016188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20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36457560-DCD8-0C29-57BB-31506D180C9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991533" y="3535376"/>
            <a:ext cx="9804876" cy="714058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zh-CN" sz="5400" b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Analysis &amp; Results</a:t>
            </a:r>
            <a:endParaRPr lang="en-US" altLang="en-US" sz="2000" b="1">
              <a:solidFill>
                <a:schemeClr val="bg1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sp>
        <p:nvSpPr>
          <p:cNvPr id="30" name="Rectangle 11">
            <a:extLst>
              <a:ext uri="{FF2B5EF4-FFF2-40B4-BE49-F238E27FC236}">
                <a16:creationId xmlns:a16="http://schemas.microsoft.com/office/drawing/2014/main" id="{AAAA4C82-979E-C631-E21B-7825BE36FF8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90233" y="3534238"/>
            <a:ext cx="9804876" cy="714058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zh-CN" sz="5400" b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Introduction</a:t>
            </a:r>
            <a:endParaRPr lang="en-US" altLang="en-US" sz="5400" b="1">
              <a:solidFill>
                <a:schemeClr val="bg1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sp>
        <p:nvSpPr>
          <p:cNvPr id="34" name="Rectangle 12">
            <a:extLst>
              <a:ext uri="{FF2B5EF4-FFF2-40B4-BE49-F238E27FC236}">
                <a16:creationId xmlns:a16="http://schemas.microsoft.com/office/drawing/2014/main" id="{32A7F55E-D625-A16E-652E-D77627DB788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1073790" y="24683599"/>
            <a:ext cx="9804876" cy="713025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zh-CN" sz="5400" b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Conclusion &amp; Future Research</a:t>
            </a:r>
            <a:endParaRPr lang="en-US" altLang="en-US" sz="5400" b="1">
              <a:solidFill>
                <a:schemeClr val="bg1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sp>
        <p:nvSpPr>
          <p:cNvPr id="36" name="Rectangle 13">
            <a:extLst>
              <a:ext uri="{FF2B5EF4-FFF2-40B4-BE49-F238E27FC236}">
                <a16:creationId xmlns:a16="http://schemas.microsoft.com/office/drawing/2014/main" id="{2DFFBC5C-9118-2447-F7F9-CE45146B164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90233" y="14635058"/>
            <a:ext cx="9804876" cy="714058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SG" altLang="zh-CN" sz="5400" b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Methodology</a:t>
            </a:r>
            <a:endParaRPr lang="en-US" altLang="en-US" sz="5400" b="1">
              <a:solidFill>
                <a:schemeClr val="bg1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sp>
        <p:nvSpPr>
          <p:cNvPr id="50" name="Rectangle 5">
            <a:extLst>
              <a:ext uri="{FF2B5EF4-FFF2-40B4-BE49-F238E27FC236}">
                <a16:creationId xmlns:a16="http://schemas.microsoft.com/office/drawing/2014/main" id="{DACC1BE6-91AB-7639-6B85-A573B6F462C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-1" y="3011012"/>
            <a:ext cx="21390769" cy="274320"/>
          </a:xfrm>
          <a:prstGeom prst="rect">
            <a:avLst/>
          </a:prstGeom>
          <a:solidFill>
            <a:srgbClr val="3FB5E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20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77D419-46DB-EA3A-B2F3-ED298C37B7B3}"/>
              </a:ext>
            </a:extLst>
          </p:cNvPr>
          <p:cNvSpPr txBox="1"/>
          <p:nvPr/>
        </p:nvSpPr>
        <p:spPr>
          <a:xfrm>
            <a:off x="1034712" y="29386414"/>
            <a:ext cx="156891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b="1" dirty="0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Cheok </a:t>
            </a:r>
            <a:r>
              <a:rPr lang="en-US" altLang="zh-CN" sz="4800" b="1" dirty="0" err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En</a:t>
            </a:r>
            <a:r>
              <a:rPr lang="en-US" altLang="zh-CN" sz="4800" b="1" dirty="0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 Qi| </a:t>
            </a:r>
            <a:r>
              <a:rPr lang="en-US" altLang="zh-CN" sz="4800" b="1" dirty="0" err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Teong</a:t>
            </a:r>
            <a:r>
              <a:rPr lang="en-US" altLang="zh-CN" sz="4800" b="1" dirty="0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 Sze Ching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F54917-595D-F591-EE2E-C16B3DA75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9049" y="29290160"/>
            <a:ext cx="3328323" cy="1016189"/>
          </a:xfrm>
          <a:prstGeom prst="rect">
            <a:avLst/>
          </a:prstGeom>
        </p:spPr>
      </p:pic>
      <p:sp>
        <p:nvSpPr>
          <p:cNvPr id="7" name="Text Box 25">
            <a:extLst>
              <a:ext uri="{FF2B5EF4-FFF2-40B4-BE49-F238E27FC236}">
                <a16:creationId xmlns:a16="http://schemas.microsoft.com/office/drawing/2014/main" id="{45EB60D9-909B-44D0-9C4E-A7AACC19C46D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590232" y="7379058"/>
            <a:ext cx="9669105" cy="26853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zh-TW" sz="2400" b="1" dirty="0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Research Objectives</a:t>
            </a:r>
          </a:p>
          <a:p>
            <a:pPr marL="508000" lvl="1" algn="just">
              <a:spcBef>
                <a:spcPts val="1200"/>
              </a:spcBef>
            </a:pPr>
            <a: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  <a:t>Explore (</a:t>
            </a:r>
            <a:r>
              <a:rPr lang="en-US" altLang="zh-TW" sz="2400" dirty="0" err="1">
                <a:latin typeface="Abadi" panose="020B0604020104020204" pitchFamily="34" charset="0"/>
                <a:ea typeface="Roboto" panose="02000000000000000000" pitchFamily="2" charset="0"/>
              </a:rPr>
              <a:t>i</a:t>
            </a:r>
            <a: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  <a:t>) how fertility has changed over time, and (ii) whether marriage and divorce indicators are statistically associated with fertility, including possible lag effects.</a:t>
            </a:r>
          </a:p>
          <a:p>
            <a:pPr marL="508000" lvl="1" algn="just">
              <a:spcBef>
                <a:spcPts val="1200"/>
              </a:spcBef>
            </a:pPr>
            <a:b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</a:br>
            <a:endParaRPr lang="en-US" altLang="zh-TW" sz="2400" b="1" dirty="0">
              <a:solidFill>
                <a:srgbClr val="70B4FD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C8E9414-5098-9EAA-A1E9-D23CE2C8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44" y="8217114"/>
            <a:ext cx="449105" cy="449105"/>
          </a:xfrm>
          <a:prstGeom prst="rect">
            <a:avLst/>
          </a:prstGeom>
        </p:spPr>
      </p:pic>
      <p:sp>
        <p:nvSpPr>
          <p:cNvPr id="16" name="Text Box 25">
            <a:extLst>
              <a:ext uri="{FF2B5EF4-FFF2-40B4-BE49-F238E27FC236}">
                <a16:creationId xmlns:a16="http://schemas.microsoft.com/office/drawing/2014/main" id="{22A537C8-ECD1-FEE9-6144-50C6677B67B4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620399" y="4262992"/>
            <a:ext cx="9774710" cy="27469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zh-TW" sz="2400" b="1" dirty="0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Background</a:t>
            </a:r>
          </a:p>
          <a:p>
            <a:pPr marL="850900" lvl="1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  <a:t>Singapore’s total fertility rate has fallen to a historic low, raising concerns about population ageing and long-term </a:t>
            </a:r>
            <a:r>
              <a:rPr lang="en-US" altLang="zh-TW" sz="2400" dirty="0" err="1">
                <a:latin typeface="Abadi" panose="020B0604020104020204" pitchFamily="34" charset="0"/>
                <a:ea typeface="Roboto" panose="02000000000000000000" pitchFamily="2" charset="0"/>
              </a:rPr>
              <a:t>labour</a:t>
            </a:r>
            <a: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  <a:t> force sustainability. </a:t>
            </a:r>
          </a:p>
          <a:p>
            <a:pPr marL="850900" lvl="1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Abadi" panose="020B0604020104020204" pitchFamily="34" charset="0"/>
                <a:ea typeface="Roboto" panose="02000000000000000000" pitchFamily="2" charset="0"/>
              </a:rPr>
              <a:t>Fertility trends may be influenced by multiple demographic factors, including marriage, divorce, and birth postponement across age groups</a:t>
            </a:r>
          </a:p>
        </p:txBody>
      </p:sp>
      <p:sp>
        <p:nvSpPr>
          <p:cNvPr id="19" name="Text Box 25">
            <a:extLst>
              <a:ext uri="{FF2B5EF4-FFF2-40B4-BE49-F238E27FC236}">
                <a16:creationId xmlns:a16="http://schemas.microsoft.com/office/drawing/2014/main" id="{FD9F8C52-231E-1F67-C047-2E61C9BC18C9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1134300" y="10509025"/>
            <a:ext cx="9111492" cy="530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zh-TW" sz="2400" b="1" dirty="0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Data Source:</a:t>
            </a:r>
          </a:p>
        </p:txBody>
      </p:sp>
      <p:sp>
        <p:nvSpPr>
          <p:cNvPr id="32" name="Text Box 25">
            <a:extLst>
              <a:ext uri="{FF2B5EF4-FFF2-40B4-BE49-F238E27FC236}">
                <a16:creationId xmlns:a16="http://schemas.microsoft.com/office/drawing/2014/main" id="{6150455D-9C77-36D8-0636-2E25A6CC92A6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1156279" y="11167709"/>
            <a:ext cx="9238830" cy="530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zh-TW" sz="2400" b="1" dirty="0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Data Exclusion: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E10A8E21-5961-DF61-7A66-0FCAED2A5157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1170679" y="13257097"/>
            <a:ext cx="9111492" cy="5741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altLang="zh-TW" sz="2400" b="1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Final Dataset:</a:t>
            </a:r>
          </a:p>
        </p:txBody>
      </p:sp>
      <p:sp>
        <p:nvSpPr>
          <p:cNvPr id="42" name="Text Box 25">
            <a:extLst>
              <a:ext uri="{FF2B5EF4-FFF2-40B4-BE49-F238E27FC236}">
                <a16:creationId xmlns:a16="http://schemas.microsoft.com/office/drawing/2014/main" id="{D0E929A9-BF71-E6D3-6A10-9B2384E58CA3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1134300" y="12063023"/>
            <a:ext cx="9238830" cy="9002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60020" tIns="80010" rIns="160020" bIns="80010">
            <a:spAutoFit/>
          </a:bodyPr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000"/>
              </a:spcBef>
            </a:pPr>
            <a:r>
              <a:rPr lang="en-US" altLang="zh-TW" sz="2400" b="1" dirty="0">
                <a:solidFill>
                  <a:srgbClr val="70B4FD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Data Transformation &amp; Creation of New Variables: </a:t>
            </a:r>
            <a:r>
              <a:rPr lang="en-SG" altLang="zh-TW" sz="2400" dirty="0">
                <a:solidFill>
                  <a:srgbClr val="000000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Handling missing values, splitting expenditure categories, analysis</a:t>
            </a:r>
            <a:endParaRPr lang="en-US" altLang="zh-TW" sz="2400" b="1" dirty="0">
              <a:solidFill>
                <a:srgbClr val="70B4FD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A9E008-1AD0-F5CC-68DC-18382733D734}"/>
              </a:ext>
            </a:extLst>
          </p:cNvPr>
          <p:cNvSpPr txBox="1"/>
          <p:nvPr/>
        </p:nvSpPr>
        <p:spPr>
          <a:xfrm>
            <a:off x="10991533" y="4246850"/>
            <a:ext cx="9804876" cy="516488"/>
          </a:xfrm>
          <a:prstGeom prst="rect">
            <a:avLst/>
          </a:prstGeom>
          <a:solidFill>
            <a:srgbClr val="235CBB">
              <a:alpha val="12941"/>
            </a:srgbClr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</a:pPr>
            <a:r>
              <a:rPr lang="en-US" altLang="zh-TW" sz="2400" b="1" u="sng" dirty="0">
                <a:latin typeface="Abadi" panose="020B0604020104020204" pitchFamily="34" charset="0"/>
                <a:ea typeface="Roboto" panose="02000000000000000000" pitchFamily="2" charset="0"/>
              </a:rPr>
              <a:t>Correlation Analysis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CCB969-D0D5-A5AE-F124-CB9CFAC43A53}"/>
              </a:ext>
            </a:extLst>
          </p:cNvPr>
          <p:cNvSpPr txBox="1"/>
          <p:nvPr/>
        </p:nvSpPr>
        <p:spPr>
          <a:xfrm>
            <a:off x="11004377" y="13510661"/>
            <a:ext cx="9758399" cy="516488"/>
          </a:xfrm>
          <a:prstGeom prst="rect">
            <a:avLst/>
          </a:prstGeom>
          <a:solidFill>
            <a:srgbClr val="E3EAF6"/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</a:pPr>
            <a:r>
              <a:rPr lang="en-US" altLang="zh-TW" sz="2400" b="1" u="sng" dirty="0">
                <a:latin typeface="Abadi" panose="020B0604020104020204" pitchFamily="34" charset="0"/>
                <a:ea typeface="Roboto" panose="02000000000000000000" pitchFamily="2" charset="0"/>
              </a:rPr>
              <a:t>Regression Analysis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61CC811-EB96-B405-2144-8BF6ACB89658}"/>
              </a:ext>
            </a:extLst>
          </p:cNvPr>
          <p:cNvGrpSpPr/>
          <p:nvPr/>
        </p:nvGrpSpPr>
        <p:grpSpPr>
          <a:xfrm>
            <a:off x="25390848" y="11064757"/>
            <a:ext cx="806614" cy="714058"/>
            <a:chOff x="14503401" y="18383287"/>
            <a:chExt cx="806614" cy="714058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5E8EDD74-6BC8-7E86-40A1-43BA39BBAF3D}"/>
                </a:ext>
              </a:extLst>
            </p:cNvPr>
            <p:cNvSpPr/>
            <p:nvPr/>
          </p:nvSpPr>
          <p:spPr>
            <a:xfrm>
              <a:off x="14503401" y="18383287"/>
              <a:ext cx="806614" cy="714058"/>
            </a:xfrm>
            <a:prstGeom prst="ellipse">
              <a:avLst/>
            </a:prstGeom>
            <a:solidFill>
              <a:srgbClr val="52D0C7"/>
            </a:solidFill>
            <a:ln w="57150">
              <a:solidFill>
                <a:srgbClr val="235CB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E4BCEF6-66C0-792A-C97D-8DF356828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635741" y="18469349"/>
              <a:ext cx="541934" cy="541934"/>
            </a:xfrm>
            <a:prstGeom prst="rect">
              <a:avLst/>
            </a:prstGeom>
          </p:spPr>
        </p:pic>
      </p:grpSp>
      <p:sp>
        <p:nvSpPr>
          <p:cNvPr id="5" name="Rectangle 11">
            <a:extLst>
              <a:ext uri="{FF2B5EF4-FFF2-40B4-BE49-F238E27FC236}">
                <a16:creationId xmlns:a16="http://schemas.microsoft.com/office/drawing/2014/main" id="{0EA60B49-CBD9-436C-AEFA-50A16228473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79846" y="9331791"/>
            <a:ext cx="9804876" cy="714058"/>
          </a:xfrm>
          <a:prstGeom prst="rect">
            <a:avLst/>
          </a:prstGeom>
          <a:solidFill>
            <a:srgbClr val="235CBB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160020" tIns="80010" rIns="160020" bIns="80010" anchor="ctr"/>
          <a:lstStyle>
            <a:lvl1pPr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01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6002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24003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3200400" defTabSz="43894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36576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41148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45720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5029200" defTabSz="43894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zh-CN" sz="5400" b="1">
                <a:solidFill>
                  <a:schemeClr val="bg1"/>
                </a:solidFill>
                <a:latin typeface="Abadi" panose="020B0604020104020204" pitchFamily="34" charset="0"/>
                <a:ea typeface="Roboto" panose="02000000000000000000" pitchFamily="2" charset="0"/>
              </a:rPr>
              <a:t>Data Preparation</a:t>
            </a:r>
            <a:endParaRPr lang="en-US" altLang="en-US" sz="5400" b="1">
              <a:solidFill>
                <a:schemeClr val="bg1"/>
              </a:solidFill>
              <a:latin typeface="Abadi" panose="020B0604020104020204" pitchFamily="34" charset="0"/>
              <a:ea typeface="Roboto" panose="02000000000000000000" pitchFamily="2" charset="0"/>
            </a:endParaRPr>
          </a:p>
        </p:txBody>
      </p:sp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AC0B415E-BC4F-07B4-63AF-5E882AA35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897" y="10530728"/>
            <a:ext cx="534136" cy="534136"/>
          </a:xfrm>
          <a:prstGeom prst="rect">
            <a:avLst/>
          </a:prstGeom>
        </p:spPr>
      </p:pic>
      <p:pic>
        <p:nvPicPr>
          <p:cNvPr id="13" name="Graphic 12" descr="Badge with solid fill">
            <a:extLst>
              <a:ext uri="{FF2B5EF4-FFF2-40B4-BE49-F238E27FC236}">
                <a16:creationId xmlns:a16="http://schemas.microsoft.com/office/drawing/2014/main" id="{983C51C4-557D-9D09-8525-7AAB438434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7879" y="11212599"/>
            <a:ext cx="532800" cy="532800"/>
          </a:xfrm>
          <a:prstGeom prst="rect">
            <a:avLst/>
          </a:prstGeom>
        </p:spPr>
      </p:pic>
      <p:pic>
        <p:nvPicPr>
          <p:cNvPr id="20" name="Graphic 19" descr="Badge 3 with solid fill">
            <a:extLst>
              <a:ext uri="{FF2B5EF4-FFF2-40B4-BE49-F238E27FC236}">
                <a16:creationId xmlns:a16="http://schemas.microsoft.com/office/drawing/2014/main" id="{A757C6A0-29F1-5A76-DFA2-F72861D7F1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8897" y="12078924"/>
            <a:ext cx="532800" cy="532800"/>
          </a:xfrm>
          <a:prstGeom prst="rect">
            <a:avLst/>
          </a:prstGeom>
        </p:spPr>
      </p:pic>
      <p:pic>
        <p:nvPicPr>
          <p:cNvPr id="23" name="Graphic 22" descr="Badge 4 with solid fill">
            <a:extLst>
              <a:ext uri="{FF2B5EF4-FFF2-40B4-BE49-F238E27FC236}">
                <a16:creationId xmlns:a16="http://schemas.microsoft.com/office/drawing/2014/main" id="{C1CCB6A9-3A40-8BDF-5F44-96FC2F1D20C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195" y="13289957"/>
            <a:ext cx="532800" cy="53280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2FBE14E-1C4F-8481-90AF-18C1A57D3D92}"/>
              </a:ext>
            </a:extLst>
          </p:cNvPr>
          <p:cNvSpPr txBox="1"/>
          <p:nvPr/>
        </p:nvSpPr>
        <p:spPr>
          <a:xfrm>
            <a:off x="22374222" y="15454159"/>
            <a:ext cx="98151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400" b="1" dirty="0">
                <a:solidFill>
                  <a:srgbClr val="70B4FD"/>
                </a:solidFill>
                <a:latin typeface="Abadi" panose="020B0604020104020204" pitchFamily="34" charset="0"/>
              </a:rPr>
              <a:t>Historical Trend &amp; Forecast Analysis: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badi" panose="020B0604020104020204" pitchFamily="34" charset="0"/>
              </a:rPr>
              <a:t>Actual CPI values (colored markers) align closely with predicted trend (dotted line), with </a:t>
            </a:r>
            <a:r>
              <a:rPr lang="en-US" sz="2400" b="1" dirty="0">
                <a:latin typeface="Abadi" panose="020B0604020104020204" pitchFamily="34" charset="0"/>
              </a:rPr>
              <a:t>fluctuations in early 2022 </a:t>
            </a:r>
            <a:r>
              <a:rPr lang="en-US" sz="2400" dirty="0">
                <a:latin typeface="Abadi" panose="020B0604020104020204" pitchFamily="34" charset="0"/>
              </a:rPr>
              <a:t>due to economic volatility.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badi" panose="020B0604020104020204" pitchFamily="34" charset="0"/>
              </a:rPr>
              <a:t>Post-2025, the </a:t>
            </a:r>
            <a:r>
              <a:rPr lang="en-US" sz="2400" b="1" dirty="0">
                <a:latin typeface="Abadi" panose="020B0604020104020204" pitchFamily="34" charset="0"/>
              </a:rPr>
              <a:t>forecast stabilizes but widening confidence intervals. indicate increasing uncertainty </a:t>
            </a:r>
            <a:r>
              <a:rPr lang="en-US" sz="2400" dirty="0">
                <a:latin typeface="Abadi" panose="020B0604020104020204" pitchFamily="34" charset="0"/>
              </a:rPr>
              <a:t>due to external factors like supply chain disruptions and policy changes.</a:t>
            </a:r>
          </a:p>
          <a:p>
            <a:r>
              <a:rPr lang="en-US" sz="2400" b="1" dirty="0">
                <a:solidFill>
                  <a:srgbClr val="70B4FD"/>
                </a:solidFill>
                <a:latin typeface="Abadi" panose="020B0604020104020204" pitchFamily="34" charset="0"/>
              </a:rPr>
              <a:t>Key Categories affecting Singapore CPI: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Abadi" panose="020B0604020104020204" pitchFamily="34" charset="0"/>
              </a:rPr>
              <a:t>Food, Transport, and Health </a:t>
            </a:r>
            <a:r>
              <a:rPr lang="en-US" sz="2400" dirty="0">
                <a:latin typeface="Abadi" panose="020B0604020104020204" pitchFamily="34" charset="0"/>
              </a:rPr>
              <a:t>were selected for further analysis due to their significant economic impact, and their trends follow a similar pattern to the overall CPI.</a:t>
            </a:r>
            <a:endParaRPr lang="en-SG" sz="2400" dirty="0">
              <a:latin typeface="Abadi" panose="020B0604020104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F8E55F-842C-2D0E-3BFC-5FDC61C97539}"/>
              </a:ext>
            </a:extLst>
          </p:cNvPr>
          <p:cNvSpPr txBox="1"/>
          <p:nvPr/>
        </p:nvSpPr>
        <p:spPr>
          <a:xfrm>
            <a:off x="11023091" y="25447048"/>
            <a:ext cx="99080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400" b="1" dirty="0">
                <a:solidFill>
                  <a:srgbClr val="70B4FD"/>
                </a:solidFill>
                <a:latin typeface="Abadi" panose="020B0604020104020204" pitchFamily="34" charset="0"/>
              </a:rPr>
              <a:t>Conclusion:</a:t>
            </a:r>
          </a:p>
          <a:p>
            <a:r>
              <a:rPr lang="en-US" sz="2400" b="1" dirty="0">
                <a:solidFill>
                  <a:srgbClr val="70B4FD"/>
                </a:solidFill>
                <a:latin typeface="Abadi" panose="020B0604020104020204" pitchFamily="34" charset="0"/>
              </a:rPr>
              <a:t>Future Research: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7716A0-F393-2972-EEC2-9D2B6AFBA78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329448" y="490729"/>
            <a:ext cx="2244403" cy="224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790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52c1bb1-f131-4b31-96d8-24f5935bdb44" xsi:nil="true"/>
    <lcf76f155ced4ddcb4097134ff3c332f xmlns="7944e1ea-dc7d-4cba-9dce-151eba1e1ad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17EF2DF4FC484B8258FED6EB908863" ma:contentTypeVersion="11" ma:contentTypeDescription="Create a new document." ma:contentTypeScope="" ma:versionID="b4cc818c78149d5311a1f17de6178a85">
  <xsd:schema xmlns:xsd="http://www.w3.org/2001/XMLSchema" xmlns:xs="http://www.w3.org/2001/XMLSchema" xmlns:p="http://schemas.microsoft.com/office/2006/metadata/properties" xmlns:ns2="7944e1ea-dc7d-4cba-9dce-151eba1e1ad7" xmlns:ns3="452c1bb1-f131-4b31-96d8-24f5935bdb44" targetNamespace="http://schemas.microsoft.com/office/2006/metadata/properties" ma:root="true" ma:fieldsID="d5c1e12a7e2fd892dcd03f78c3e98160" ns2:_="" ns3:_="">
    <xsd:import namespace="7944e1ea-dc7d-4cba-9dce-151eba1e1ad7"/>
    <xsd:import namespace="452c1bb1-f131-4b31-96d8-24f5935bdb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44e1ea-dc7d-4cba-9dce-151eba1e1ad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eec61d7-21c4-46ea-8069-5c692c33a4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2c1bb1-f131-4b31-96d8-24f5935bdb4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7740dc3-6827-454a-a5af-5421b5f73182}" ma:internalName="TaxCatchAll" ma:showField="CatchAllData" ma:web="452c1bb1-f131-4b31-96d8-24f5935bdb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D6D9C2-0490-428C-BDF7-06AFC4BF7B76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944e1ea-dc7d-4cba-9dce-151eba1e1ad7"/>
    <ds:schemaRef ds:uri="http://purl.org/dc/dcmitype/"/>
    <ds:schemaRef ds:uri="http://purl.org/dc/terms/"/>
    <ds:schemaRef ds:uri="452c1bb1-f131-4b31-96d8-24f5935bdb44"/>
  </ds:schemaRefs>
</ds:datastoreItem>
</file>

<file path=customXml/itemProps2.xml><?xml version="1.0" encoding="utf-8"?>
<ds:datastoreItem xmlns:ds="http://schemas.openxmlformats.org/officeDocument/2006/customXml" ds:itemID="{C2139EC2-9F62-4D5D-960F-4E1D388C08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7BBFE8-9E5D-4591-A509-9936311430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944e1ea-dc7d-4cba-9dce-151eba1e1ad7"/>
    <ds:schemaRef ds:uri="452c1bb1-f131-4b31-96d8-24f5935bd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232</Words>
  <Application>Microsoft Macintosh PowerPoint</Application>
  <PresentationFormat>Custom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Abadi</vt:lpstr>
      <vt:lpstr>Arial</vt:lpstr>
      <vt:lpstr>Calibri</vt:lpstr>
      <vt:lpstr>Calibri Light</vt:lpstr>
      <vt:lpstr>Roboto</vt:lpstr>
      <vt:lpstr>Office 佈景主題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cp:lastModifiedBy>En Qi Cheok</cp:lastModifiedBy>
  <cp:revision>2</cp:revision>
  <dcterms:created xsi:type="dcterms:W3CDTF">2022-04-09T08:32:59Z</dcterms:created>
  <dcterms:modified xsi:type="dcterms:W3CDTF">2026-03-14T15:59:22Z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0x010100EC17EF2DF4FC484B8258FED6EB908863</vt:lpwstr>
  </property>
</Properties>
</file>